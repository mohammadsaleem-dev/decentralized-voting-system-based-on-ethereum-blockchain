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0" r:id="rId1"/>
  </p:sldMasterIdLst>
  <p:notesMasterIdLst>
    <p:notesMasterId r:id="rId25"/>
  </p:notesMasterIdLst>
  <p:handoutMasterIdLst>
    <p:handoutMasterId r:id="rId26"/>
  </p:handoutMasterIdLst>
  <p:sldIdLst>
    <p:sldId id="286" r:id="rId2"/>
    <p:sldId id="257" r:id="rId3"/>
    <p:sldId id="260" r:id="rId4"/>
    <p:sldId id="262" r:id="rId5"/>
    <p:sldId id="289" r:id="rId6"/>
    <p:sldId id="292" r:id="rId7"/>
    <p:sldId id="274" r:id="rId8"/>
    <p:sldId id="263" r:id="rId9"/>
    <p:sldId id="291" r:id="rId10"/>
    <p:sldId id="293" r:id="rId11"/>
    <p:sldId id="270" r:id="rId12"/>
    <p:sldId id="269" r:id="rId13"/>
    <p:sldId id="264" r:id="rId14"/>
    <p:sldId id="288" r:id="rId15"/>
    <p:sldId id="271" r:id="rId16"/>
    <p:sldId id="272" r:id="rId17"/>
    <p:sldId id="265" r:id="rId18"/>
    <p:sldId id="294" r:id="rId19"/>
    <p:sldId id="273" r:id="rId20"/>
    <p:sldId id="275" r:id="rId21"/>
    <p:sldId id="276" r:id="rId22"/>
    <p:sldId id="277" r:id="rId23"/>
    <p:sldId id="290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9" autoAdjust="0"/>
    <p:restoredTop sz="95036" autoAdjust="0"/>
  </p:normalViewPr>
  <p:slideViewPr>
    <p:cSldViewPr snapToGrid="0" snapToObjects="1">
      <p:cViewPr varScale="1">
        <p:scale>
          <a:sx n="105" d="100"/>
          <a:sy n="105" d="100"/>
        </p:scale>
        <p:origin x="202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48CF2C-3779-4DE0-8551-36BB03A8EC1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D5D5C9D-7525-4DDE-89D1-D2D89CB22D34}">
      <dgm:prSet custT="1"/>
      <dgm:spPr/>
      <dgm:t>
        <a:bodyPr/>
        <a:lstStyle/>
        <a:p>
          <a:r>
            <a:rPr lang="en-US" sz="1800" dirty="0"/>
            <a:t>Blockchain: A decentralized, immutable ledger</a:t>
          </a:r>
        </a:p>
      </dgm:t>
    </dgm:pt>
    <dgm:pt modelId="{F83BC435-F23E-48E5-BC58-0528EE763EEC}" type="parTrans" cxnId="{95A86916-5E29-4801-B124-600B803AE565}">
      <dgm:prSet/>
      <dgm:spPr/>
      <dgm:t>
        <a:bodyPr/>
        <a:lstStyle/>
        <a:p>
          <a:endParaRPr lang="en-US"/>
        </a:p>
      </dgm:t>
    </dgm:pt>
    <dgm:pt modelId="{841238F4-7A1B-49AF-B658-92C10D53F8E2}" type="sibTrans" cxnId="{95A86916-5E29-4801-B124-600B803AE565}">
      <dgm:prSet/>
      <dgm:spPr/>
      <dgm:t>
        <a:bodyPr/>
        <a:lstStyle/>
        <a:p>
          <a:endParaRPr lang="en-US"/>
        </a:p>
      </dgm:t>
    </dgm:pt>
    <dgm:pt modelId="{4286C224-3A98-4B61-A5F5-D60178A96C12}">
      <dgm:prSet custT="1"/>
      <dgm:spPr/>
      <dgm:t>
        <a:bodyPr/>
        <a:lstStyle/>
        <a:p>
          <a:r>
            <a:rPr lang="en-US" sz="1800" dirty="0"/>
            <a:t>Ethereum: Allows for programmable contracts (smart contracts)</a:t>
          </a:r>
        </a:p>
      </dgm:t>
    </dgm:pt>
    <dgm:pt modelId="{C94A9637-1AD9-469B-BB51-900B030F0DB4}" type="parTrans" cxnId="{4DDEA9E4-01DE-45C4-A46F-C255FBB829A3}">
      <dgm:prSet/>
      <dgm:spPr/>
      <dgm:t>
        <a:bodyPr/>
        <a:lstStyle/>
        <a:p>
          <a:endParaRPr lang="en-US"/>
        </a:p>
      </dgm:t>
    </dgm:pt>
    <dgm:pt modelId="{42B7DE76-ACF6-4404-B954-50DC2EE8569F}" type="sibTrans" cxnId="{4DDEA9E4-01DE-45C4-A46F-C255FBB829A3}">
      <dgm:prSet/>
      <dgm:spPr/>
      <dgm:t>
        <a:bodyPr/>
        <a:lstStyle/>
        <a:p>
          <a:endParaRPr lang="en-US"/>
        </a:p>
      </dgm:t>
    </dgm:pt>
    <dgm:pt modelId="{E0C1A5BC-49F9-481B-BA2D-75AEAA54B3EE}">
      <dgm:prSet custT="1"/>
      <dgm:spPr/>
      <dgm:t>
        <a:bodyPr/>
        <a:lstStyle/>
        <a:p>
          <a:r>
            <a:rPr lang="en-US" sz="1800" dirty="0"/>
            <a:t>MetaMask: Browser extension that enables blockchain wallet interactions</a:t>
          </a:r>
        </a:p>
      </dgm:t>
    </dgm:pt>
    <dgm:pt modelId="{D05B4199-AF82-4C75-BD4B-E1655A99E99A}" type="parTrans" cxnId="{FFE9EACD-8715-4D01-8BE3-2A1CC089CDC3}">
      <dgm:prSet/>
      <dgm:spPr/>
      <dgm:t>
        <a:bodyPr/>
        <a:lstStyle/>
        <a:p>
          <a:endParaRPr lang="en-US"/>
        </a:p>
      </dgm:t>
    </dgm:pt>
    <dgm:pt modelId="{0EE6381E-78D4-41AF-9D6A-C8D22AB7A712}" type="sibTrans" cxnId="{FFE9EACD-8715-4D01-8BE3-2A1CC089CDC3}">
      <dgm:prSet/>
      <dgm:spPr/>
      <dgm:t>
        <a:bodyPr/>
        <a:lstStyle/>
        <a:p>
          <a:endParaRPr lang="en-US"/>
        </a:p>
      </dgm:t>
    </dgm:pt>
    <dgm:pt modelId="{6816E60E-373C-4058-86FF-01B0635079F2}">
      <dgm:prSet custT="1"/>
      <dgm:spPr/>
      <dgm:t>
        <a:bodyPr/>
        <a:lstStyle/>
        <a:p>
          <a:r>
            <a:rPr lang="en-US" sz="1800" dirty="0"/>
            <a:t>Ethers.js: JavaScript library to interact with Ethereum in our frontend</a:t>
          </a:r>
        </a:p>
      </dgm:t>
    </dgm:pt>
    <dgm:pt modelId="{B6707842-4283-48B1-BFB4-CFDD0AD22C6A}" type="parTrans" cxnId="{0ABE5B6F-196D-4C40-8581-AC00F6CE27EE}">
      <dgm:prSet/>
      <dgm:spPr/>
      <dgm:t>
        <a:bodyPr/>
        <a:lstStyle/>
        <a:p>
          <a:endParaRPr lang="en-US"/>
        </a:p>
      </dgm:t>
    </dgm:pt>
    <dgm:pt modelId="{DC9F263A-EFDA-4479-BB3E-B8B2DBB13C69}" type="sibTrans" cxnId="{0ABE5B6F-196D-4C40-8581-AC00F6CE27EE}">
      <dgm:prSet/>
      <dgm:spPr/>
      <dgm:t>
        <a:bodyPr/>
        <a:lstStyle/>
        <a:p>
          <a:endParaRPr lang="en-US"/>
        </a:p>
      </dgm:t>
    </dgm:pt>
    <dgm:pt modelId="{B4501989-D6B0-4E90-B28F-795EAB0E5322}" type="pres">
      <dgm:prSet presAssocID="{1448CF2C-3779-4DE0-8551-36BB03A8EC10}" presName="root" presStyleCnt="0">
        <dgm:presLayoutVars>
          <dgm:dir/>
          <dgm:resizeHandles val="exact"/>
        </dgm:presLayoutVars>
      </dgm:prSet>
      <dgm:spPr/>
    </dgm:pt>
    <dgm:pt modelId="{5300E63D-EAF3-4EDE-86C4-A69290F98B48}" type="pres">
      <dgm:prSet presAssocID="{1448CF2C-3779-4DE0-8551-36BB03A8EC10}" presName="container" presStyleCnt="0">
        <dgm:presLayoutVars>
          <dgm:dir/>
          <dgm:resizeHandles val="exact"/>
        </dgm:presLayoutVars>
      </dgm:prSet>
      <dgm:spPr/>
    </dgm:pt>
    <dgm:pt modelId="{9FFD97CB-3FA2-4A25-9803-00E960226FFB}" type="pres">
      <dgm:prSet presAssocID="{3D5D5C9D-7525-4DDE-89D1-D2D89CB22D34}" presName="compNode" presStyleCnt="0"/>
      <dgm:spPr/>
    </dgm:pt>
    <dgm:pt modelId="{0289CE43-1CF9-4714-A48F-81187C3E3F76}" type="pres">
      <dgm:prSet presAssocID="{3D5D5C9D-7525-4DDE-89D1-D2D89CB22D34}" presName="iconBgRect" presStyleLbl="bgShp" presStyleIdx="0" presStyleCnt="4"/>
      <dgm:spPr/>
    </dgm:pt>
    <dgm:pt modelId="{2F9B1798-41E2-4B29-A6AF-A148A0A84384}" type="pres">
      <dgm:prSet presAssocID="{3D5D5C9D-7525-4DDE-89D1-D2D89CB22D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D53012A8-949D-4C6A-A67E-D79350F36539}" type="pres">
      <dgm:prSet presAssocID="{3D5D5C9D-7525-4DDE-89D1-D2D89CB22D34}" presName="spaceRect" presStyleCnt="0"/>
      <dgm:spPr/>
    </dgm:pt>
    <dgm:pt modelId="{570D0C3C-E161-4683-B239-7CF5AE1C09A7}" type="pres">
      <dgm:prSet presAssocID="{3D5D5C9D-7525-4DDE-89D1-D2D89CB22D34}" presName="textRect" presStyleLbl="revTx" presStyleIdx="0" presStyleCnt="4">
        <dgm:presLayoutVars>
          <dgm:chMax val="1"/>
          <dgm:chPref val="1"/>
        </dgm:presLayoutVars>
      </dgm:prSet>
      <dgm:spPr/>
    </dgm:pt>
    <dgm:pt modelId="{8F10EF10-AAD2-44C9-90E7-BC8CA0EB0F2E}" type="pres">
      <dgm:prSet presAssocID="{841238F4-7A1B-49AF-B658-92C10D53F8E2}" presName="sibTrans" presStyleLbl="sibTrans2D1" presStyleIdx="0" presStyleCnt="0"/>
      <dgm:spPr/>
    </dgm:pt>
    <dgm:pt modelId="{52267701-F431-4EEC-BFA2-C6A1336D8389}" type="pres">
      <dgm:prSet presAssocID="{4286C224-3A98-4B61-A5F5-D60178A96C12}" presName="compNode" presStyleCnt="0"/>
      <dgm:spPr/>
    </dgm:pt>
    <dgm:pt modelId="{D3D708CF-534E-4F12-9B21-C3097DC82B7F}" type="pres">
      <dgm:prSet presAssocID="{4286C224-3A98-4B61-A5F5-D60178A96C12}" presName="iconBgRect" presStyleLbl="bgShp" presStyleIdx="1" presStyleCnt="4"/>
      <dgm:spPr/>
    </dgm:pt>
    <dgm:pt modelId="{47EF61E0-1282-4371-881D-8D178BCA0989}" type="pres">
      <dgm:prSet presAssocID="{4286C224-3A98-4B61-A5F5-D60178A96C1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536810AA-924D-4D15-80A1-98F92933AA04}" type="pres">
      <dgm:prSet presAssocID="{4286C224-3A98-4B61-A5F5-D60178A96C12}" presName="spaceRect" presStyleCnt="0"/>
      <dgm:spPr/>
    </dgm:pt>
    <dgm:pt modelId="{0538B930-2DC0-495F-865E-7CC21F0971E7}" type="pres">
      <dgm:prSet presAssocID="{4286C224-3A98-4B61-A5F5-D60178A96C12}" presName="textRect" presStyleLbl="revTx" presStyleIdx="1" presStyleCnt="4">
        <dgm:presLayoutVars>
          <dgm:chMax val="1"/>
          <dgm:chPref val="1"/>
        </dgm:presLayoutVars>
      </dgm:prSet>
      <dgm:spPr/>
    </dgm:pt>
    <dgm:pt modelId="{6F0E64FF-4972-4078-86C3-0FE8A5D6EF16}" type="pres">
      <dgm:prSet presAssocID="{42B7DE76-ACF6-4404-B954-50DC2EE8569F}" presName="sibTrans" presStyleLbl="sibTrans2D1" presStyleIdx="0" presStyleCnt="0"/>
      <dgm:spPr/>
    </dgm:pt>
    <dgm:pt modelId="{E4C17B6F-708B-4860-823F-FA9D3F6B8682}" type="pres">
      <dgm:prSet presAssocID="{E0C1A5BC-49F9-481B-BA2D-75AEAA54B3EE}" presName="compNode" presStyleCnt="0"/>
      <dgm:spPr/>
    </dgm:pt>
    <dgm:pt modelId="{C908F79A-EC92-4532-8B50-1B3D392B7479}" type="pres">
      <dgm:prSet presAssocID="{E0C1A5BC-49F9-481B-BA2D-75AEAA54B3EE}" presName="iconBgRect" presStyleLbl="bgShp" presStyleIdx="2" presStyleCnt="4"/>
      <dgm:spPr/>
    </dgm:pt>
    <dgm:pt modelId="{6AC33045-F1A9-4E50-9F0A-171410803272}" type="pres">
      <dgm:prSet presAssocID="{E0C1A5BC-49F9-481B-BA2D-75AEAA54B3E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2DC7E043-13FF-4AA0-A7C3-3F34E47A13E3}" type="pres">
      <dgm:prSet presAssocID="{E0C1A5BC-49F9-481B-BA2D-75AEAA54B3EE}" presName="spaceRect" presStyleCnt="0"/>
      <dgm:spPr/>
    </dgm:pt>
    <dgm:pt modelId="{0CE349E3-5449-4229-8B31-2D08CBDAFAC0}" type="pres">
      <dgm:prSet presAssocID="{E0C1A5BC-49F9-481B-BA2D-75AEAA54B3EE}" presName="textRect" presStyleLbl="revTx" presStyleIdx="2" presStyleCnt="4">
        <dgm:presLayoutVars>
          <dgm:chMax val="1"/>
          <dgm:chPref val="1"/>
        </dgm:presLayoutVars>
      </dgm:prSet>
      <dgm:spPr/>
    </dgm:pt>
    <dgm:pt modelId="{4CB23FF5-17E6-4545-BD65-B3B3B2E93C51}" type="pres">
      <dgm:prSet presAssocID="{0EE6381E-78D4-41AF-9D6A-C8D22AB7A712}" presName="sibTrans" presStyleLbl="sibTrans2D1" presStyleIdx="0" presStyleCnt="0"/>
      <dgm:spPr/>
    </dgm:pt>
    <dgm:pt modelId="{3C7C3C86-CE4F-493D-B767-67695914F3EE}" type="pres">
      <dgm:prSet presAssocID="{6816E60E-373C-4058-86FF-01B0635079F2}" presName="compNode" presStyleCnt="0"/>
      <dgm:spPr/>
    </dgm:pt>
    <dgm:pt modelId="{69C540ED-8E10-4889-A9DA-7B1396E77572}" type="pres">
      <dgm:prSet presAssocID="{6816E60E-373C-4058-86FF-01B0635079F2}" presName="iconBgRect" presStyleLbl="bgShp" presStyleIdx="3" presStyleCnt="4"/>
      <dgm:spPr/>
    </dgm:pt>
    <dgm:pt modelId="{58D39E23-1D14-4A1E-A9B7-3954DCAA4C3B}" type="pres">
      <dgm:prSet presAssocID="{6816E60E-373C-4058-86FF-01B0635079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1CD702E-152D-434B-A741-EDEBE0C423E6}" type="pres">
      <dgm:prSet presAssocID="{6816E60E-373C-4058-86FF-01B0635079F2}" presName="spaceRect" presStyleCnt="0"/>
      <dgm:spPr/>
    </dgm:pt>
    <dgm:pt modelId="{FA3935C9-98D8-484C-AF97-3F219B924E02}" type="pres">
      <dgm:prSet presAssocID="{6816E60E-373C-4058-86FF-01B0635079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550B600-4BD8-4760-8228-77FC47C3FF50}" type="presOf" srcId="{42B7DE76-ACF6-4404-B954-50DC2EE8569F}" destId="{6F0E64FF-4972-4078-86C3-0FE8A5D6EF16}" srcOrd="0" destOrd="0" presId="urn:microsoft.com/office/officeart/2018/2/layout/IconCircleList"/>
    <dgm:cxn modelId="{AE8F2810-BC35-4AB6-971E-DB8961B690EA}" type="presOf" srcId="{841238F4-7A1B-49AF-B658-92C10D53F8E2}" destId="{8F10EF10-AAD2-44C9-90E7-BC8CA0EB0F2E}" srcOrd="0" destOrd="0" presId="urn:microsoft.com/office/officeart/2018/2/layout/IconCircleList"/>
    <dgm:cxn modelId="{95A86916-5E29-4801-B124-600B803AE565}" srcId="{1448CF2C-3779-4DE0-8551-36BB03A8EC10}" destId="{3D5D5C9D-7525-4DDE-89D1-D2D89CB22D34}" srcOrd="0" destOrd="0" parTransId="{F83BC435-F23E-48E5-BC58-0528EE763EEC}" sibTransId="{841238F4-7A1B-49AF-B658-92C10D53F8E2}"/>
    <dgm:cxn modelId="{D9F45D1C-1FA7-4CFC-B0FA-728C2A62E788}" type="presOf" srcId="{6816E60E-373C-4058-86FF-01B0635079F2}" destId="{FA3935C9-98D8-484C-AF97-3F219B924E02}" srcOrd="0" destOrd="0" presId="urn:microsoft.com/office/officeart/2018/2/layout/IconCircleList"/>
    <dgm:cxn modelId="{0ABE5B6F-196D-4C40-8581-AC00F6CE27EE}" srcId="{1448CF2C-3779-4DE0-8551-36BB03A8EC10}" destId="{6816E60E-373C-4058-86FF-01B0635079F2}" srcOrd="3" destOrd="0" parTransId="{B6707842-4283-48B1-BFB4-CFDD0AD22C6A}" sibTransId="{DC9F263A-EFDA-4479-BB3E-B8B2DBB13C69}"/>
    <dgm:cxn modelId="{F8853D70-8C56-4B71-AD97-9D99ECB3C320}" type="presOf" srcId="{4286C224-3A98-4B61-A5F5-D60178A96C12}" destId="{0538B930-2DC0-495F-865E-7CC21F0971E7}" srcOrd="0" destOrd="0" presId="urn:microsoft.com/office/officeart/2018/2/layout/IconCircleList"/>
    <dgm:cxn modelId="{457F0959-9F6F-4F47-89E3-D31A0A94C96C}" type="presOf" srcId="{0EE6381E-78D4-41AF-9D6A-C8D22AB7A712}" destId="{4CB23FF5-17E6-4545-BD65-B3B3B2E93C51}" srcOrd="0" destOrd="0" presId="urn:microsoft.com/office/officeart/2018/2/layout/IconCircleList"/>
    <dgm:cxn modelId="{116E068B-2093-434B-8D21-DBE41EFA2B86}" type="presOf" srcId="{3D5D5C9D-7525-4DDE-89D1-D2D89CB22D34}" destId="{570D0C3C-E161-4683-B239-7CF5AE1C09A7}" srcOrd="0" destOrd="0" presId="urn:microsoft.com/office/officeart/2018/2/layout/IconCircleList"/>
    <dgm:cxn modelId="{FFE9EACD-8715-4D01-8BE3-2A1CC089CDC3}" srcId="{1448CF2C-3779-4DE0-8551-36BB03A8EC10}" destId="{E0C1A5BC-49F9-481B-BA2D-75AEAA54B3EE}" srcOrd="2" destOrd="0" parTransId="{D05B4199-AF82-4C75-BD4B-E1655A99E99A}" sibTransId="{0EE6381E-78D4-41AF-9D6A-C8D22AB7A712}"/>
    <dgm:cxn modelId="{4DDEA9E4-01DE-45C4-A46F-C255FBB829A3}" srcId="{1448CF2C-3779-4DE0-8551-36BB03A8EC10}" destId="{4286C224-3A98-4B61-A5F5-D60178A96C12}" srcOrd="1" destOrd="0" parTransId="{C94A9637-1AD9-469B-BB51-900B030F0DB4}" sibTransId="{42B7DE76-ACF6-4404-B954-50DC2EE8569F}"/>
    <dgm:cxn modelId="{E6E79DE9-D773-4A39-A899-1140A55579EC}" type="presOf" srcId="{E0C1A5BC-49F9-481B-BA2D-75AEAA54B3EE}" destId="{0CE349E3-5449-4229-8B31-2D08CBDAFAC0}" srcOrd="0" destOrd="0" presId="urn:microsoft.com/office/officeart/2018/2/layout/IconCircleList"/>
    <dgm:cxn modelId="{2FA287ED-ED7F-495F-BD32-9001767A1073}" type="presOf" srcId="{1448CF2C-3779-4DE0-8551-36BB03A8EC10}" destId="{B4501989-D6B0-4E90-B28F-795EAB0E5322}" srcOrd="0" destOrd="0" presId="urn:microsoft.com/office/officeart/2018/2/layout/IconCircleList"/>
    <dgm:cxn modelId="{F592103F-7FFF-4B29-94D9-2D2DF2492699}" type="presParOf" srcId="{B4501989-D6B0-4E90-B28F-795EAB0E5322}" destId="{5300E63D-EAF3-4EDE-86C4-A69290F98B48}" srcOrd="0" destOrd="0" presId="urn:microsoft.com/office/officeart/2018/2/layout/IconCircleList"/>
    <dgm:cxn modelId="{BB68671D-FB45-4B35-AFD7-318A3A6A0D7E}" type="presParOf" srcId="{5300E63D-EAF3-4EDE-86C4-A69290F98B48}" destId="{9FFD97CB-3FA2-4A25-9803-00E960226FFB}" srcOrd="0" destOrd="0" presId="urn:microsoft.com/office/officeart/2018/2/layout/IconCircleList"/>
    <dgm:cxn modelId="{B8277E61-7AD4-4CC1-85F3-2F8043F843CD}" type="presParOf" srcId="{9FFD97CB-3FA2-4A25-9803-00E960226FFB}" destId="{0289CE43-1CF9-4714-A48F-81187C3E3F76}" srcOrd="0" destOrd="0" presId="urn:microsoft.com/office/officeart/2018/2/layout/IconCircleList"/>
    <dgm:cxn modelId="{353ACE88-08A4-439C-A781-DF0CDDD9DF09}" type="presParOf" srcId="{9FFD97CB-3FA2-4A25-9803-00E960226FFB}" destId="{2F9B1798-41E2-4B29-A6AF-A148A0A84384}" srcOrd="1" destOrd="0" presId="urn:microsoft.com/office/officeart/2018/2/layout/IconCircleList"/>
    <dgm:cxn modelId="{5516C23A-889A-477D-AFE1-D43995F30D60}" type="presParOf" srcId="{9FFD97CB-3FA2-4A25-9803-00E960226FFB}" destId="{D53012A8-949D-4C6A-A67E-D79350F36539}" srcOrd="2" destOrd="0" presId="urn:microsoft.com/office/officeart/2018/2/layout/IconCircleList"/>
    <dgm:cxn modelId="{CA564DA1-5FEE-4106-951C-54B81BE336CF}" type="presParOf" srcId="{9FFD97CB-3FA2-4A25-9803-00E960226FFB}" destId="{570D0C3C-E161-4683-B239-7CF5AE1C09A7}" srcOrd="3" destOrd="0" presId="urn:microsoft.com/office/officeart/2018/2/layout/IconCircleList"/>
    <dgm:cxn modelId="{4016A9E9-39D7-4B98-B698-D2CEA1B8A122}" type="presParOf" srcId="{5300E63D-EAF3-4EDE-86C4-A69290F98B48}" destId="{8F10EF10-AAD2-44C9-90E7-BC8CA0EB0F2E}" srcOrd="1" destOrd="0" presId="urn:microsoft.com/office/officeart/2018/2/layout/IconCircleList"/>
    <dgm:cxn modelId="{000710E0-3720-42D5-A228-509DE122ACCD}" type="presParOf" srcId="{5300E63D-EAF3-4EDE-86C4-A69290F98B48}" destId="{52267701-F431-4EEC-BFA2-C6A1336D8389}" srcOrd="2" destOrd="0" presId="urn:microsoft.com/office/officeart/2018/2/layout/IconCircleList"/>
    <dgm:cxn modelId="{51C66A2B-785B-4541-8475-3DA5EDDAAAA3}" type="presParOf" srcId="{52267701-F431-4EEC-BFA2-C6A1336D8389}" destId="{D3D708CF-534E-4F12-9B21-C3097DC82B7F}" srcOrd="0" destOrd="0" presId="urn:microsoft.com/office/officeart/2018/2/layout/IconCircleList"/>
    <dgm:cxn modelId="{7B945726-66E3-4C78-BD1E-96BB64D68341}" type="presParOf" srcId="{52267701-F431-4EEC-BFA2-C6A1336D8389}" destId="{47EF61E0-1282-4371-881D-8D178BCA0989}" srcOrd="1" destOrd="0" presId="urn:microsoft.com/office/officeart/2018/2/layout/IconCircleList"/>
    <dgm:cxn modelId="{C4AE6914-DCCD-467E-9ED6-F4D9B20E506C}" type="presParOf" srcId="{52267701-F431-4EEC-BFA2-C6A1336D8389}" destId="{536810AA-924D-4D15-80A1-98F92933AA04}" srcOrd="2" destOrd="0" presId="urn:microsoft.com/office/officeart/2018/2/layout/IconCircleList"/>
    <dgm:cxn modelId="{50BDFAB2-3D00-412B-AE95-BEE0F2605DF7}" type="presParOf" srcId="{52267701-F431-4EEC-BFA2-C6A1336D8389}" destId="{0538B930-2DC0-495F-865E-7CC21F0971E7}" srcOrd="3" destOrd="0" presId="urn:microsoft.com/office/officeart/2018/2/layout/IconCircleList"/>
    <dgm:cxn modelId="{A54BE66B-3F36-440D-AD40-265DC01908F1}" type="presParOf" srcId="{5300E63D-EAF3-4EDE-86C4-A69290F98B48}" destId="{6F0E64FF-4972-4078-86C3-0FE8A5D6EF16}" srcOrd="3" destOrd="0" presId="urn:microsoft.com/office/officeart/2018/2/layout/IconCircleList"/>
    <dgm:cxn modelId="{CE683005-BBFD-4A6E-B4D7-1639D5DA1D5C}" type="presParOf" srcId="{5300E63D-EAF3-4EDE-86C4-A69290F98B48}" destId="{E4C17B6F-708B-4860-823F-FA9D3F6B8682}" srcOrd="4" destOrd="0" presId="urn:microsoft.com/office/officeart/2018/2/layout/IconCircleList"/>
    <dgm:cxn modelId="{5DDE93DB-904D-4F7D-89A5-317ABE031525}" type="presParOf" srcId="{E4C17B6F-708B-4860-823F-FA9D3F6B8682}" destId="{C908F79A-EC92-4532-8B50-1B3D392B7479}" srcOrd="0" destOrd="0" presId="urn:microsoft.com/office/officeart/2018/2/layout/IconCircleList"/>
    <dgm:cxn modelId="{89F8E5A7-49F7-43BF-AF64-71B12FB64358}" type="presParOf" srcId="{E4C17B6F-708B-4860-823F-FA9D3F6B8682}" destId="{6AC33045-F1A9-4E50-9F0A-171410803272}" srcOrd="1" destOrd="0" presId="urn:microsoft.com/office/officeart/2018/2/layout/IconCircleList"/>
    <dgm:cxn modelId="{31935855-A83A-47D0-84A5-17FDF86CFD9A}" type="presParOf" srcId="{E4C17B6F-708B-4860-823F-FA9D3F6B8682}" destId="{2DC7E043-13FF-4AA0-A7C3-3F34E47A13E3}" srcOrd="2" destOrd="0" presId="urn:microsoft.com/office/officeart/2018/2/layout/IconCircleList"/>
    <dgm:cxn modelId="{53E1B040-B7A4-4C21-A845-0694AEF04602}" type="presParOf" srcId="{E4C17B6F-708B-4860-823F-FA9D3F6B8682}" destId="{0CE349E3-5449-4229-8B31-2D08CBDAFAC0}" srcOrd="3" destOrd="0" presId="urn:microsoft.com/office/officeart/2018/2/layout/IconCircleList"/>
    <dgm:cxn modelId="{01874F32-AF18-43A1-A55F-C27C38580E6E}" type="presParOf" srcId="{5300E63D-EAF3-4EDE-86C4-A69290F98B48}" destId="{4CB23FF5-17E6-4545-BD65-B3B3B2E93C51}" srcOrd="5" destOrd="0" presId="urn:microsoft.com/office/officeart/2018/2/layout/IconCircleList"/>
    <dgm:cxn modelId="{DFD32D2B-5EBE-49EA-829A-41E8C0081564}" type="presParOf" srcId="{5300E63D-EAF3-4EDE-86C4-A69290F98B48}" destId="{3C7C3C86-CE4F-493D-B767-67695914F3EE}" srcOrd="6" destOrd="0" presId="urn:microsoft.com/office/officeart/2018/2/layout/IconCircleList"/>
    <dgm:cxn modelId="{AF0832AA-8622-40A7-B3DA-CE55F1E2F1B7}" type="presParOf" srcId="{3C7C3C86-CE4F-493D-B767-67695914F3EE}" destId="{69C540ED-8E10-4889-A9DA-7B1396E77572}" srcOrd="0" destOrd="0" presId="urn:microsoft.com/office/officeart/2018/2/layout/IconCircleList"/>
    <dgm:cxn modelId="{AE3F4E05-456E-49B4-BEB6-8E13035DE58C}" type="presParOf" srcId="{3C7C3C86-CE4F-493D-B767-67695914F3EE}" destId="{58D39E23-1D14-4A1E-A9B7-3954DCAA4C3B}" srcOrd="1" destOrd="0" presId="urn:microsoft.com/office/officeart/2018/2/layout/IconCircleList"/>
    <dgm:cxn modelId="{D5B3A941-3159-46A2-9F51-F99F19E7B7A3}" type="presParOf" srcId="{3C7C3C86-CE4F-493D-B767-67695914F3EE}" destId="{D1CD702E-152D-434B-A741-EDEBE0C423E6}" srcOrd="2" destOrd="0" presId="urn:microsoft.com/office/officeart/2018/2/layout/IconCircleList"/>
    <dgm:cxn modelId="{CBC56CF6-977A-4C47-AC31-8C0D6F32D1FF}" type="presParOf" srcId="{3C7C3C86-CE4F-493D-B767-67695914F3EE}" destId="{FA3935C9-98D8-484C-AF97-3F219B924E0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0BF015-A3E0-45CC-B87C-BC707D7AFBD7}" type="doc">
      <dgm:prSet loTypeId="urn:microsoft.com/office/officeart/2018/2/layout/IconLabel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D7B43C-7B0F-41AF-B470-24314DDF5A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Frontend: HTML, CSS, JavaScript, Chart.js</a:t>
          </a:r>
        </a:p>
      </dgm:t>
    </dgm:pt>
    <dgm:pt modelId="{16B07449-48A3-444F-9DA1-8CCDD3057AA2}" type="parTrans" cxnId="{94397E53-C6B9-4DC3-99FE-3DA1C63A1D5C}">
      <dgm:prSet/>
      <dgm:spPr/>
      <dgm:t>
        <a:bodyPr/>
        <a:lstStyle/>
        <a:p>
          <a:endParaRPr lang="en-US"/>
        </a:p>
      </dgm:t>
    </dgm:pt>
    <dgm:pt modelId="{9B0DB425-155B-473F-91AF-9D22A1750A18}" type="sibTrans" cxnId="{94397E53-C6B9-4DC3-99FE-3DA1C63A1D5C}">
      <dgm:prSet/>
      <dgm:spPr/>
      <dgm:t>
        <a:bodyPr/>
        <a:lstStyle/>
        <a:p>
          <a:endParaRPr lang="en-US"/>
        </a:p>
      </dgm:t>
    </dgm:pt>
    <dgm:pt modelId="{5E08CA6B-BDB9-4751-BCD8-4C3DD509A7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Backend: Node.js with Express.js</a:t>
          </a:r>
        </a:p>
      </dgm:t>
    </dgm:pt>
    <dgm:pt modelId="{C80E99A4-A0C4-418B-BB3C-5E5607883072}" type="parTrans" cxnId="{AED935E6-EC88-4311-AD19-BC8D5461C39C}">
      <dgm:prSet/>
      <dgm:spPr/>
      <dgm:t>
        <a:bodyPr/>
        <a:lstStyle/>
        <a:p>
          <a:endParaRPr lang="en-US"/>
        </a:p>
      </dgm:t>
    </dgm:pt>
    <dgm:pt modelId="{A4567ECA-F27D-46AE-B8DF-C3ADEB8F0780}" type="sibTrans" cxnId="{AED935E6-EC88-4311-AD19-BC8D5461C39C}">
      <dgm:prSet/>
      <dgm:spPr/>
      <dgm:t>
        <a:bodyPr/>
        <a:lstStyle/>
        <a:p>
          <a:endParaRPr lang="en-US"/>
        </a:p>
      </dgm:t>
    </dgm:pt>
    <dgm:pt modelId="{7A785602-3C42-42D8-80BB-DE1D405699C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Database: MySQL</a:t>
          </a:r>
        </a:p>
      </dgm:t>
    </dgm:pt>
    <dgm:pt modelId="{7C7DAFF4-BEF9-4D58-BA6B-4BA5DD5F22B8}" type="parTrans" cxnId="{DA937597-101A-486B-958C-7FB2C80779A0}">
      <dgm:prSet/>
      <dgm:spPr/>
      <dgm:t>
        <a:bodyPr/>
        <a:lstStyle/>
        <a:p>
          <a:endParaRPr lang="en-US"/>
        </a:p>
      </dgm:t>
    </dgm:pt>
    <dgm:pt modelId="{F39A884E-55FA-453E-864F-15765325B790}" type="sibTrans" cxnId="{DA937597-101A-486B-958C-7FB2C80779A0}">
      <dgm:prSet/>
      <dgm:spPr/>
      <dgm:t>
        <a:bodyPr/>
        <a:lstStyle/>
        <a:p>
          <a:endParaRPr lang="en-US"/>
        </a:p>
      </dgm:t>
    </dgm:pt>
    <dgm:pt modelId="{F1181DD4-148A-4968-A9BF-6D6AF273E85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Blockchain: Ethereum smart contract,  Ganache for local testing</a:t>
          </a:r>
        </a:p>
      </dgm:t>
    </dgm:pt>
    <dgm:pt modelId="{8FFF601D-55FA-4419-806C-CEA0EEB2D4A0}" type="parTrans" cxnId="{DDB8EC8A-04C1-4155-A723-468CEE14D9DD}">
      <dgm:prSet/>
      <dgm:spPr/>
      <dgm:t>
        <a:bodyPr/>
        <a:lstStyle/>
        <a:p>
          <a:endParaRPr lang="en-US"/>
        </a:p>
      </dgm:t>
    </dgm:pt>
    <dgm:pt modelId="{59D40B81-2E52-44D5-8600-12DE979F0AD2}" type="sibTrans" cxnId="{DDB8EC8A-04C1-4155-A723-468CEE14D9DD}">
      <dgm:prSet/>
      <dgm:spPr/>
      <dgm:t>
        <a:bodyPr/>
        <a:lstStyle/>
        <a:p>
          <a:endParaRPr lang="en-US"/>
        </a:p>
      </dgm:t>
    </dgm:pt>
    <dgm:pt modelId="{4D5129CF-5CEB-4F2F-AC18-5CC6764172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Wallet: MetaMask integration</a:t>
          </a:r>
        </a:p>
      </dgm:t>
    </dgm:pt>
    <dgm:pt modelId="{3E9BAE5E-FBEA-4B72-8239-13B7C0802E1B}" type="parTrans" cxnId="{30B1C002-518D-4D95-BE78-00D2EF987F28}">
      <dgm:prSet/>
      <dgm:spPr/>
      <dgm:t>
        <a:bodyPr/>
        <a:lstStyle/>
        <a:p>
          <a:endParaRPr lang="en-US"/>
        </a:p>
      </dgm:t>
    </dgm:pt>
    <dgm:pt modelId="{BC5FC1F1-E8EE-42A4-B7AC-612E4F938025}" type="sibTrans" cxnId="{30B1C002-518D-4D95-BE78-00D2EF987F28}">
      <dgm:prSet/>
      <dgm:spPr/>
      <dgm:t>
        <a:bodyPr/>
        <a:lstStyle/>
        <a:p>
          <a:endParaRPr lang="en-US"/>
        </a:p>
      </dgm:t>
    </dgm:pt>
    <dgm:pt modelId="{FF0C9BB8-5588-4CFF-89EF-570E7B401493}" type="pres">
      <dgm:prSet presAssocID="{DC0BF015-A3E0-45CC-B87C-BC707D7AFBD7}" presName="root" presStyleCnt="0">
        <dgm:presLayoutVars>
          <dgm:dir/>
          <dgm:resizeHandles val="exact"/>
        </dgm:presLayoutVars>
      </dgm:prSet>
      <dgm:spPr/>
    </dgm:pt>
    <dgm:pt modelId="{64FF69D0-B61B-4A64-8DA8-920435DAEB3E}" type="pres">
      <dgm:prSet presAssocID="{D5D7B43C-7B0F-41AF-B470-24314DDF5A3D}" presName="compNode" presStyleCnt="0"/>
      <dgm:spPr/>
    </dgm:pt>
    <dgm:pt modelId="{37C8A183-1572-4020-9647-B74E09733404}" type="pres">
      <dgm:prSet presAssocID="{D5D7B43C-7B0F-41AF-B470-24314DDF5A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79862B52-94F5-497A-90AC-4C0C1EE4CA0E}" type="pres">
      <dgm:prSet presAssocID="{D5D7B43C-7B0F-41AF-B470-24314DDF5A3D}" presName="spaceRect" presStyleCnt="0"/>
      <dgm:spPr/>
    </dgm:pt>
    <dgm:pt modelId="{0FD942FF-6EC0-4BDB-95FA-EF2B6809F0D9}" type="pres">
      <dgm:prSet presAssocID="{D5D7B43C-7B0F-41AF-B470-24314DDF5A3D}" presName="textRect" presStyleLbl="revTx" presStyleIdx="0" presStyleCnt="5">
        <dgm:presLayoutVars>
          <dgm:chMax val="1"/>
          <dgm:chPref val="1"/>
        </dgm:presLayoutVars>
      </dgm:prSet>
      <dgm:spPr/>
    </dgm:pt>
    <dgm:pt modelId="{21DCFFA4-C83B-436A-BBF5-89CE6AEE4991}" type="pres">
      <dgm:prSet presAssocID="{9B0DB425-155B-473F-91AF-9D22A1750A18}" presName="sibTrans" presStyleCnt="0"/>
      <dgm:spPr/>
    </dgm:pt>
    <dgm:pt modelId="{90481470-93D1-4746-8FCC-E11882A58188}" type="pres">
      <dgm:prSet presAssocID="{5E08CA6B-BDB9-4751-BCD8-4C3DD509A779}" presName="compNode" presStyleCnt="0"/>
      <dgm:spPr/>
    </dgm:pt>
    <dgm:pt modelId="{9BD17A33-093C-453B-A499-9852A8030814}" type="pres">
      <dgm:prSet presAssocID="{5E08CA6B-BDB9-4751-BCD8-4C3DD509A77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01329EC-5659-4F12-ABE3-612F6562CEA7}" type="pres">
      <dgm:prSet presAssocID="{5E08CA6B-BDB9-4751-BCD8-4C3DD509A779}" presName="spaceRect" presStyleCnt="0"/>
      <dgm:spPr/>
    </dgm:pt>
    <dgm:pt modelId="{2A4701E6-3442-4C2D-8C57-A99FD27A279D}" type="pres">
      <dgm:prSet presAssocID="{5E08CA6B-BDB9-4751-BCD8-4C3DD509A779}" presName="textRect" presStyleLbl="revTx" presStyleIdx="1" presStyleCnt="5">
        <dgm:presLayoutVars>
          <dgm:chMax val="1"/>
          <dgm:chPref val="1"/>
        </dgm:presLayoutVars>
      </dgm:prSet>
      <dgm:spPr/>
    </dgm:pt>
    <dgm:pt modelId="{978A0EFC-D46F-4FB3-AAD5-2FA8BE9489CD}" type="pres">
      <dgm:prSet presAssocID="{A4567ECA-F27D-46AE-B8DF-C3ADEB8F0780}" presName="sibTrans" presStyleCnt="0"/>
      <dgm:spPr/>
    </dgm:pt>
    <dgm:pt modelId="{44748BD8-8E91-4CA3-92C9-1D2FF576BA1A}" type="pres">
      <dgm:prSet presAssocID="{7A785602-3C42-42D8-80BB-DE1D405699CB}" presName="compNode" presStyleCnt="0"/>
      <dgm:spPr/>
    </dgm:pt>
    <dgm:pt modelId="{A5F9DA6B-4B65-4150-BFBB-58E4D65F7888}" type="pres">
      <dgm:prSet presAssocID="{7A785602-3C42-42D8-80BB-DE1D405699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FCF1294-C6F6-4B60-B191-B9824B7A07BF}" type="pres">
      <dgm:prSet presAssocID="{7A785602-3C42-42D8-80BB-DE1D405699CB}" presName="spaceRect" presStyleCnt="0"/>
      <dgm:spPr/>
    </dgm:pt>
    <dgm:pt modelId="{5E70BE71-9271-448A-B0ED-9C47C3617024}" type="pres">
      <dgm:prSet presAssocID="{7A785602-3C42-42D8-80BB-DE1D405699CB}" presName="textRect" presStyleLbl="revTx" presStyleIdx="2" presStyleCnt="5">
        <dgm:presLayoutVars>
          <dgm:chMax val="1"/>
          <dgm:chPref val="1"/>
        </dgm:presLayoutVars>
      </dgm:prSet>
      <dgm:spPr/>
    </dgm:pt>
    <dgm:pt modelId="{18226825-DCDF-4CC9-A3CC-B44884C408F7}" type="pres">
      <dgm:prSet presAssocID="{F39A884E-55FA-453E-864F-15765325B790}" presName="sibTrans" presStyleCnt="0"/>
      <dgm:spPr/>
    </dgm:pt>
    <dgm:pt modelId="{B30A599B-D9DD-405C-A7FD-D717C4EA13F9}" type="pres">
      <dgm:prSet presAssocID="{F1181DD4-148A-4968-A9BF-6D6AF273E858}" presName="compNode" presStyleCnt="0"/>
      <dgm:spPr/>
    </dgm:pt>
    <dgm:pt modelId="{01F91063-9569-4A6B-A416-FF4D4A5A0AB7}" type="pres">
      <dgm:prSet presAssocID="{F1181DD4-148A-4968-A9BF-6D6AF273E85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D593AB9B-7193-46CF-8AA6-F11570E524C1}" type="pres">
      <dgm:prSet presAssocID="{F1181DD4-148A-4968-A9BF-6D6AF273E858}" presName="spaceRect" presStyleCnt="0"/>
      <dgm:spPr/>
    </dgm:pt>
    <dgm:pt modelId="{BB4EDCC5-5A21-4F1A-8EE6-05F7BCA5A10F}" type="pres">
      <dgm:prSet presAssocID="{F1181DD4-148A-4968-A9BF-6D6AF273E858}" presName="textRect" presStyleLbl="revTx" presStyleIdx="3" presStyleCnt="5">
        <dgm:presLayoutVars>
          <dgm:chMax val="1"/>
          <dgm:chPref val="1"/>
        </dgm:presLayoutVars>
      </dgm:prSet>
      <dgm:spPr/>
    </dgm:pt>
    <dgm:pt modelId="{43923B5A-CD8D-44DA-90B8-5970787D2F02}" type="pres">
      <dgm:prSet presAssocID="{59D40B81-2E52-44D5-8600-12DE979F0AD2}" presName="sibTrans" presStyleCnt="0"/>
      <dgm:spPr/>
    </dgm:pt>
    <dgm:pt modelId="{573775B4-C96F-459E-913C-4FCE14562071}" type="pres">
      <dgm:prSet presAssocID="{4D5129CF-5CEB-4F2F-AC18-5CC6764172B2}" presName="compNode" presStyleCnt="0"/>
      <dgm:spPr/>
    </dgm:pt>
    <dgm:pt modelId="{C23364E3-AC22-42C7-BD07-D6DFC8674346}" type="pres">
      <dgm:prSet presAssocID="{4D5129CF-5CEB-4F2F-AC18-5CC6764172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EFEE8B5-DA9B-4A7F-8694-E6E5ECB06642}" type="pres">
      <dgm:prSet presAssocID="{4D5129CF-5CEB-4F2F-AC18-5CC6764172B2}" presName="spaceRect" presStyleCnt="0"/>
      <dgm:spPr/>
    </dgm:pt>
    <dgm:pt modelId="{212CC2E4-2BC9-42EF-9B42-1958D821EA02}" type="pres">
      <dgm:prSet presAssocID="{4D5129CF-5CEB-4F2F-AC18-5CC6764172B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0B1C002-518D-4D95-BE78-00D2EF987F28}" srcId="{DC0BF015-A3E0-45CC-B87C-BC707D7AFBD7}" destId="{4D5129CF-5CEB-4F2F-AC18-5CC6764172B2}" srcOrd="4" destOrd="0" parTransId="{3E9BAE5E-FBEA-4B72-8239-13B7C0802E1B}" sibTransId="{BC5FC1F1-E8EE-42A4-B7AC-612E4F938025}"/>
    <dgm:cxn modelId="{0E27C733-B647-4D81-B482-1ABE00F6C9E6}" type="presOf" srcId="{7A785602-3C42-42D8-80BB-DE1D405699CB}" destId="{5E70BE71-9271-448A-B0ED-9C47C3617024}" srcOrd="0" destOrd="0" presId="urn:microsoft.com/office/officeart/2018/2/layout/IconLabelList"/>
    <dgm:cxn modelId="{3080CA64-C069-4E44-8411-837ACE858A4E}" type="presOf" srcId="{DC0BF015-A3E0-45CC-B87C-BC707D7AFBD7}" destId="{FF0C9BB8-5588-4CFF-89EF-570E7B401493}" srcOrd="0" destOrd="0" presId="urn:microsoft.com/office/officeart/2018/2/layout/IconLabelList"/>
    <dgm:cxn modelId="{4D530A6D-A413-4098-B92E-74D0F60EDAA6}" type="presOf" srcId="{4D5129CF-5CEB-4F2F-AC18-5CC6764172B2}" destId="{212CC2E4-2BC9-42EF-9B42-1958D821EA02}" srcOrd="0" destOrd="0" presId="urn:microsoft.com/office/officeart/2018/2/layout/IconLabelList"/>
    <dgm:cxn modelId="{94397E53-C6B9-4DC3-99FE-3DA1C63A1D5C}" srcId="{DC0BF015-A3E0-45CC-B87C-BC707D7AFBD7}" destId="{D5D7B43C-7B0F-41AF-B470-24314DDF5A3D}" srcOrd="0" destOrd="0" parTransId="{16B07449-48A3-444F-9DA1-8CCDD3057AA2}" sibTransId="{9B0DB425-155B-473F-91AF-9D22A1750A18}"/>
    <dgm:cxn modelId="{DDB8EC8A-04C1-4155-A723-468CEE14D9DD}" srcId="{DC0BF015-A3E0-45CC-B87C-BC707D7AFBD7}" destId="{F1181DD4-148A-4968-A9BF-6D6AF273E858}" srcOrd="3" destOrd="0" parTransId="{8FFF601D-55FA-4419-806C-CEA0EEB2D4A0}" sibTransId="{59D40B81-2E52-44D5-8600-12DE979F0AD2}"/>
    <dgm:cxn modelId="{DA937597-101A-486B-958C-7FB2C80779A0}" srcId="{DC0BF015-A3E0-45CC-B87C-BC707D7AFBD7}" destId="{7A785602-3C42-42D8-80BB-DE1D405699CB}" srcOrd="2" destOrd="0" parTransId="{7C7DAFF4-BEF9-4D58-BA6B-4BA5DD5F22B8}" sibTransId="{F39A884E-55FA-453E-864F-15765325B790}"/>
    <dgm:cxn modelId="{A04C47BB-0F2C-4D5E-93A0-EB27894FCE97}" type="presOf" srcId="{D5D7B43C-7B0F-41AF-B470-24314DDF5A3D}" destId="{0FD942FF-6EC0-4BDB-95FA-EF2B6809F0D9}" srcOrd="0" destOrd="0" presId="urn:microsoft.com/office/officeart/2018/2/layout/IconLabelList"/>
    <dgm:cxn modelId="{E177BACE-7778-4C56-B02B-334FF92A3A72}" type="presOf" srcId="{F1181DD4-148A-4968-A9BF-6D6AF273E858}" destId="{BB4EDCC5-5A21-4F1A-8EE6-05F7BCA5A10F}" srcOrd="0" destOrd="0" presId="urn:microsoft.com/office/officeart/2018/2/layout/IconLabelList"/>
    <dgm:cxn modelId="{E0E189E4-F5DB-466C-96E2-ED1556053725}" type="presOf" srcId="{5E08CA6B-BDB9-4751-BCD8-4C3DD509A779}" destId="{2A4701E6-3442-4C2D-8C57-A99FD27A279D}" srcOrd="0" destOrd="0" presId="urn:microsoft.com/office/officeart/2018/2/layout/IconLabelList"/>
    <dgm:cxn modelId="{AED935E6-EC88-4311-AD19-BC8D5461C39C}" srcId="{DC0BF015-A3E0-45CC-B87C-BC707D7AFBD7}" destId="{5E08CA6B-BDB9-4751-BCD8-4C3DD509A779}" srcOrd="1" destOrd="0" parTransId="{C80E99A4-A0C4-418B-BB3C-5E5607883072}" sibTransId="{A4567ECA-F27D-46AE-B8DF-C3ADEB8F0780}"/>
    <dgm:cxn modelId="{A8BC72F8-B6BD-438B-AED5-CED38EEA0884}" type="presParOf" srcId="{FF0C9BB8-5588-4CFF-89EF-570E7B401493}" destId="{64FF69D0-B61B-4A64-8DA8-920435DAEB3E}" srcOrd="0" destOrd="0" presId="urn:microsoft.com/office/officeart/2018/2/layout/IconLabelList"/>
    <dgm:cxn modelId="{F202C73A-5A55-4FC2-8E35-B9FCB469BADB}" type="presParOf" srcId="{64FF69D0-B61B-4A64-8DA8-920435DAEB3E}" destId="{37C8A183-1572-4020-9647-B74E09733404}" srcOrd="0" destOrd="0" presId="urn:microsoft.com/office/officeart/2018/2/layout/IconLabelList"/>
    <dgm:cxn modelId="{AB49D6CB-F85C-4C9F-AFB9-F431DC409538}" type="presParOf" srcId="{64FF69D0-B61B-4A64-8DA8-920435DAEB3E}" destId="{79862B52-94F5-497A-90AC-4C0C1EE4CA0E}" srcOrd="1" destOrd="0" presId="urn:microsoft.com/office/officeart/2018/2/layout/IconLabelList"/>
    <dgm:cxn modelId="{FFEB1E6B-8C4D-4C04-A341-9A42A99F0D40}" type="presParOf" srcId="{64FF69D0-B61B-4A64-8DA8-920435DAEB3E}" destId="{0FD942FF-6EC0-4BDB-95FA-EF2B6809F0D9}" srcOrd="2" destOrd="0" presId="urn:microsoft.com/office/officeart/2018/2/layout/IconLabelList"/>
    <dgm:cxn modelId="{AB6B55C8-589F-4109-BBF7-E88B429B7CE3}" type="presParOf" srcId="{FF0C9BB8-5588-4CFF-89EF-570E7B401493}" destId="{21DCFFA4-C83B-436A-BBF5-89CE6AEE4991}" srcOrd="1" destOrd="0" presId="urn:microsoft.com/office/officeart/2018/2/layout/IconLabelList"/>
    <dgm:cxn modelId="{D7F67EAB-57E2-4BCF-BDBA-0C1FB2007658}" type="presParOf" srcId="{FF0C9BB8-5588-4CFF-89EF-570E7B401493}" destId="{90481470-93D1-4746-8FCC-E11882A58188}" srcOrd="2" destOrd="0" presId="urn:microsoft.com/office/officeart/2018/2/layout/IconLabelList"/>
    <dgm:cxn modelId="{7E56FA9F-6339-4E09-84BA-5249A86FC028}" type="presParOf" srcId="{90481470-93D1-4746-8FCC-E11882A58188}" destId="{9BD17A33-093C-453B-A499-9852A8030814}" srcOrd="0" destOrd="0" presId="urn:microsoft.com/office/officeart/2018/2/layout/IconLabelList"/>
    <dgm:cxn modelId="{A19806DB-9D7C-4730-B522-CE2AFA8C8B78}" type="presParOf" srcId="{90481470-93D1-4746-8FCC-E11882A58188}" destId="{501329EC-5659-4F12-ABE3-612F6562CEA7}" srcOrd="1" destOrd="0" presId="urn:microsoft.com/office/officeart/2018/2/layout/IconLabelList"/>
    <dgm:cxn modelId="{B0559438-1B14-4490-B9FC-CE830A2BE7E4}" type="presParOf" srcId="{90481470-93D1-4746-8FCC-E11882A58188}" destId="{2A4701E6-3442-4C2D-8C57-A99FD27A279D}" srcOrd="2" destOrd="0" presId="urn:microsoft.com/office/officeart/2018/2/layout/IconLabelList"/>
    <dgm:cxn modelId="{4AD358D2-478A-4C9B-B03F-CE683777BD2E}" type="presParOf" srcId="{FF0C9BB8-5588-4CFF-89EF-570E7B401493}" destId="{978A0EFC-D46F-4FB3-AAD5-2FA8BE9489CD}" srcOrd="3" destOrd="0" presId="urn:microsoft.com/office/officeart/2018/2/layout/IconLabelList"/>
    <dgm:cxn modelId="{FD23F3CB-C806-4D4E-9164-863DA8AF5464}" type="presParOf" srcId="{FF0C9BB8-5588-4CFF-89EF-570E7B401493}" destId="{44748BD8-8E91-4CA3-92C9-1D2FF576BA1A}" srcOrd="4" destOrd="0" presId="urn:microsoft.com/office/officeart/2018/2/layout/IconLabelList"/>
    <dgm:cxn modelId="{4E1F347C-0F29-48E4-9AB3-B00C6EC7ADCC}" type="presParOf" srcId="{44748BD8-8E91-4CA3-92C9-1D2FF576BA1A}" destId="{A5F9DA6B-4B65-4150-BFBB-58E4D65F7888}" srcOrd="0" destOrd="0" presId="urn:microsoft.com/office/officeart/2018/2/layout/IconLabelList"/>
    <dgm:cxn modelId="{A1A16EB9-BBE2-402F-BD25-FEFF1266ED22}" type="presParOf" srcId="{44748BD8-8E91-4CA3-92C9-1D2FF576BA1A}" destId="{1FCF1294-C6F6-4B60-B191-B9824B7A07BF}" srcOrd="1" destOrd="0" presId="urn:microsoft.com/office/officeart/2018/2/layout/IconLabelList"/>
    <dgm:cxn modelId="{43E481DA-967A-4363-B14B-9FCB629C2BA3}" type="presParOf" srcId="{44748BD8-8E91-4CA3-92C9-1D2FF576BA1A}" destId="{5E70BE71-9271-448A-B0ED-9C47C3617024}" srcOrd="2" destOrd="0" presId="urn:microsoft.com/office/officeart/2018/2/layout/IconLabelList"/>
    <dgm:cxn modelId="{87CAA4FD-56C9-4512-A193-435ED41327B3}" type="presParOf" srcId="{FF0C9BB8-5588-4CFF-89EF-570E7B401493}" destId="{18226825-DCDF-4CC9-A3CC-B44884C408F7}" srcOrd="5" destOrd="0" presId="urn:microsoft.com/office/officeart/2018/2/layout/IconLabelList"/>
    <dgm:cxn modelId="{B6FD8E5E-A9E1-4D75-85D7-BEC63AF7E891}" type="presParOf" srcId="{FF0C9BB8-5588-4CFF-89EF-570E7B401493}" destId="{B30A599B-D9DD-405C-A7FD-D717C4EA13F9}" srcOrd="6" destOrd="0" presId="urn:microsoft.com/office/officeart/2018/2/layout/IconLabelList"/>
    <dgm:cxn modelId="{69C7A326-F258-405C-8EA6-832F7D54579E}" type="presParOf" srcId="{B30A599B-D9DD-405C-A7FD-D717C4EA13F9}" destId="{01F91063-9569-4A6B-A416-FF4D4A5A0AB7}" srcOrd="0" destOrd="0" presId="urn:microsoft.com/office/officeart/2018/2/layout/IconLabelList"/>
    <dgm:cxn modelId="{6C50679E-2CA1-452E-B7ED-5946457A9FA7}" type="presParOf" srcId="{B30A599B-D9DD-405C-A7FD-D717C4EA13F9}" destId="{D593AB9B-7193-46CF-8AA6-F11570E524C1}" srcOrd="1" destOrd="0" presId="urn:microsoft.com/office/officeart/2018/2/layout/IconLabelList"/>
    <dgm:cxn modelId="{0F5EE110-EB2E-47A0-894A-AB79856496AD}" type="presParOf" srcId="{B30A599B-D9DD-405C-A7FD-D717C4EA13F9}" destId="{BB4EDCC5-5A21-4F1A-8EE6-05F7BCA5A10F}" srcOrd="2" destOrd="0" presId="urn:microsoft.com/office/officeart/2018/2/layout/IconLabelList"/>
    <dgm:cxn modelId="{32ACB9BF-D03F-4287-A5A5-3AD2EE1A49F6}" type="presParOf" srcId="{FF0C9BB8-5588-4CFF-89EF-570E7B401493}" destId="{43923B5A-CD8D-44DA-90B8-5970787D2F02}" srcOrd="7" destOrd="0" presId="urn:microsoft.com/office/officeart/2018/2/layout/IconLabelList"/>
    <dgm:cxn modelId="{86353588-9278-40F3-A1E7-C76013CA5645}" type="presParOf" srcId="{FF0C9BB8-5588-4CFF-89EF-570E7B401493}" destId="{573775B4-C96F-459E-913C-4FCE14562071}" srcOrd="8" destOrd="0" presId="urn:microsoft.com/office/officeart/2018/2/layout/IconLabelList"/>
    <dgm:cxn modelId="{6845045D-97A2-4953-8AB5-8963D0D96698}" type="presParOf" srcId="{573775B4-C96F-459E-913C-4FCE14562071}" destId="{C23364E3-AC22-42C7-BD07-D6DFC8674346}" srcOrd="0" destOrd="0" presId="urn:microsoft.com/office/officeart/2018/2/layout/IconLabelList"/>
    <dgm:cxn modelId="{1B866C5E-87E3-44B5-B964-37C21D4D2679}" type="presParOf" srcId="{573775B4-C96F-459E-913C-4FCE14562071}" destId="{3EFEE8B5-DA9B-4A7F-8694-E6E5ECB06642}" srcOrd="1" destOrd="0" presId="urn:microsoft.com/office/officeart/2018/2/layout/IconLabelList"/>
    <dgm:cxn modelId="{67473840-64CE-437C-BD32-3808CD1FA799}" type="presParOf" srcId="{573775B4-C96F-459E-913C-4FCE14562071}" destId="{212CC2E4-2BC9-42EF-9B42-1958D821EA02}" srcOrd="2" destOrd="0" presId="urn:microsoft.com/office/officeart/2018/2/layout/IconLabelList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5560736-AD2F-43DE-921F-648D43FD5020}" type="doc">
      <dgm:prSet loTypeId="urn:microsoft.com/office/officeart/2018/2/layout/IconLabelList" loCatId="icon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101F5D-308C-481F-A9DA-6C13A1EC2E9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dirty="0"/>
            <a:t>Fully </a:t>
          </a:r>
          <a:r>
            <a:rPr lang="en-US" sz="1500" b="1" dirty="0"/>
            <a:t>responsive interface</a:t>
          </a:r>
          <a:r>
            <a:rPr lang="en-US" sz="1500" dirty="0"/>
            <a:t> optimized for desktop and mobile platforms</a:t>
          </a:r>
        </a:p>
      </dgm:t>
    </dgm:pt>
    <dgm:pt modelId="{1C4646C3-8C78-4744-AEC8-B4C216513300}" type="parTrans" cxnId="{26C027B0-2710-4E52-B32C-631D757EAD5F}">
      <dgm:prSet/>
      <dgm:spPr/>
      <dgm:t>
        <a:bodyPr/>
        <a:lstStyle/>
        <a:p>
          <a:endParaRPr lang="en-US"/>
        </a:p>
      </dgm:t>
    </dgm:pt>
    <dgm:pt modelId="{0D592055-E217-496F-8E6F-B4C284D0628D}" type="sibTrans" cxnId="{26C027B0-2710-4E52-B32C-631D757EAD5F}">
      <dgm:prSet/>
      <dgm:spPr/>
      <dgm:t>
        <a:bodyPr/>
        <a:lstStyle/>
        <a:p>
          <a:endParaRPr lang="en-US"/>
        </a:p>
      </dgm:t>
    </dgm:pt>
    <dgm:pt modelId="{65384E7E-9262-4A75-B023-3D08A5FD88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dirty="0"/>
            <a:t>Toggleable dark/light themes</a:t>
          </a:r>
          <a:r>
            <a:rPr lang="en-US" sz="1500" dirty="0"/>
            <a:t> with smooth CSS transitions</a:t>
          </a:r>
        </a:p>
      </dgm:t>
    </dgm:pt>
    <dgm:pt modelId="{91CAAF2F-6151-4548-BE5C-607E8FA237F4}" type="parTrans" cxnId="{34B043C8-E25A-44E9-8F5D-3ADE24DEAC7A}">
      <dgm:prSet/>
      <dgm:spPr/>
      <dgm:t>
        <a:bodyPr/>
        <a:lstStyle/>
        <a:p>
          <a:endParaRPr lang="en-US"/>
        </a:p>
      </dgm:t>
    </dgm:pt>
    <dgm:pt modelId="{36A824FD-CACC-4287-9315-5A175299FA4F}" type="sibTrans" cxnId="{34B043C8-E25A-44E9-8F5D-3ADE24DEAC7A}">
      <dgm:prSet/>
      <dgm:spPr/>
      <dgm:t>
        <a:bodyPr/>
        <a:lstStyle/>
        <a:p>
          <a:endParaRPr lang="en-US"/>
        </a:p>
      </dgm:t>
    </dgm:pt>
    <dgm:pt modelId="{F50077BC-E83A-4A1B-BF5B-E712D0C805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dirty="0"/>
            <a:t>Glass morphism-inspired UI</a:t>
          </a:r>
          <a:r>
            <a:rPr lang="en-US" sz="1500" dirty="0"/>
            <a:t> providing modern, visually appealing aesthetics</a:t>
          </a:r>
        </a:p>
      </dgm:t>
    </dgm:pt>
    <dgm:pt modelId="{BCB73EEB-300A-48E3-A84B-004F2B92E993}" type="parTrans" cxnId="{5B049DC2-847F-46CF-81F6-D90B7E47AA55}">
      <dgm:prSet/>
      <dgm:spPr/>
      <dgm:t>
        <a:bodyPr/>
        <a:lstStyle/>
        <a:p>
          <a:endParaRPr lang="en-US"/>
        </a:p>
      </dgm:t>
    </dgm:pt>
    <dgm:pt modelId="{8F249A66-FEE3-4B04-B7D7-F1AA22BBFE6F}" type="sibTrans" cxnId="{5B049DC2-847F-46CF-81F6-D90B7E47AA55}">
      <dgm:prSet/>
      <dgm:spPr/>
      <dgm:t>
        <a:bodyPr/>
        <a:lstStyle/>
        <a:p>
          <a:endParaRPr lang="en-US"/>
        </a:p>
      </dgm:t>
    </dgm:pt>
    <dgm:pt modelId="{F4BFF563-1E06-4CCE-90B3-7A7211897F7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500" b="1" dirty="0"/>
            <a:t>Interactive elements</a:t>
          </a:r>
          <a:r>
            <a:rPr lang="en-US" sz="1500" dirty="0"/>
            <a:t>, including animated buttons and floating cards for enhanced user experience</a:t>
          </a:r>
        </a:p>
      </dgm:t>
    </dgm:pt>
    <dgm:pt modelId="{1D88A7E9-E94E-443D-9781-9D950B606433}" type="parTrans" cxnId="{15B9ABC1-9D83-4AFA-8085-7834DFCD3FDC}">
      <dgm:prSet/>
      <dgm:spPr/>
      <dgm:t>
        <a:bodyPr/>
        <a:lstStyle/>
        <a:p>
          <a:endParaRPr lang="en-US"/>
        </a:p>
      </dgm:t>
    </dgm:pt>
    <dgm:pt modelId="{018DD796-47A3-47B4-BC6E-1E2313FFCD76}" type="sibTrans" cxnId="{15B9ABC1-9D83-4AFA-8085-7834DFCD3FDC}">
      <dgm:prSet/>
      <dgm:spPr/>
      <dgm:t>
        <a:bodyPr/>
        <a:lstStyle/>
        <a:p>
          <a:endParaRPr lang="en-US"/>
        </a:p>
      </dgm:t>
    </dgm:pt>
    <dgm:pt modelId="{9C7D38E0-780E-465A-9803-41923F2F6DF7}" type="pres">
      <dgm:prSet presAssocID="{35560736-AD2F-43DE-921F-648D43FD5020}" presName="root" presStyleCnt="0">
        <dgm:presLayoutVars>
          <dgm:dir/>
          <dgm:resizeHandles val="exact"/>
        </dgm:presLayoutVars>
      </dgm:prSet>
      <dgm:spPr/>
    </dgm:pt>
    <dgm:pt modelId="{F2292ED2-C428-425F-8672-CA81ADCD2557}" type="pres">
      <dgm:prSet presAssocID="{7A101F5D-308C-481F-A9DA-6C13A1EC2E98}" presName="compNode" presStyleCnt="0"/>
      <dgm:spPr/>
    </dgm:pt>
    <dgm:pt modelId="{37E316F2-D566-4DE0-8006-2A494DB62A09}" type="pres">
      <dgm:prSet presAssocID="{7A101F5D-308C-481F-A9DA-6C13A1EC2E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F546A2A-9D88-4F60-8050-EDDA86AE2DF8}" type="pres">
      <dgm:prSet presAssocID="{7A101F5D-308C-481F-A9DA-6C13A1EC2E98}" presName="spaceRect" presStyleCnt="0"/>
      <dgm:spPr/>
    </dgm:pt>
    <dgm:pt modelId="{AFE4BBC7-E9F2-44B1-8CAE-08E550246AA2}" type="pres">
      <dgm:prSet presAssocID="{7A101F5D-308C-481F-A9DA-6C13A1EC2E98}" presName="textRect" presStyleLbl="revTx" presStyleIdx="0" presStyleCnt="4">
        <dgm:presLayoutVars>
          <dgm:chMax val="1"/>
          <dgm:chPref val="1"/>
        </dgm:presLayoutVars>
      </dgm:prSet>
      <dgm:spPr/>
    </dgm:pt>
    <dgm:pt modelId="{827F353F-8CE9-4011-A033-1FCA5325A97B}" type="pres">
      <dgm:prSet presAssocID="{0D592055-E217-496F-8E6F-B4C284D0628D}" presName="sibTrans" presStyleCnt="0"/>
      <dgm:spPr/>
    </dgm:pt>
    <dgm:pt modelId="{46103021-2998-4D03-8C6D-3ABBDC47247F}" type="pres">
      <dgm:prSet presAssocID="{65384E7E-9262-4A75-B023-3D08A5FD883B}" presName="compNode" presStyleCnt="0"/>
      <dgm:spPr/>
    </dgm:pt>
    <dgm:pt modelId="{BF0776C5-EF69-4BFA-92CB-A2989F6E996A}" type="pres">
      <dgm:prSet presAssocID="{65384E7E-9262-4A75-B023-3D08A5FD88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ntern"/>
        </a:ext>
      </dgm:extLst>
    </dgm:pt>
    <dgm:pt modelId="{9AB52BBE-2D8A-4CA9-8F9B-E8537F4FD4CC}" type="pres">
      <dgm:prSet presAssocID="{65384E7E-9262-4A75-B023-3D08A5FD883B}" presName="spaceRect" presStyleCnt="0"/>
      <dgm:spPr/>
    </dgm:pt>
    <dgm:pt modelId="{B87A0F4D-3E7D-467D-9990-FA95DC9DC6D5}" type="pres">
      <dgm:prSet presAssocID="{65384E7E-9262-4A75-B023-3D08A5FD883B}" presName="textRect" presStyleLbl="revTx" presStyleIdx="1" presStyleCnt="4">
        <dgm:presLayoutVars>
          <dgm:chMax val="1"/>
          <dgm:chPref val="1"/>
        </dgm:presLayoutVars>
      </dgm:prSet>
      <dgm:spPr/>
    </dgm:pt>
    <dgm:pt modelId="{E08AAA96-6820-4801-9642-7B277D923AF9}" type="pres">
      <dgm:prSet presAssocID="{36A824FD-CACC-4287-9315-5A175299FA4F}" presName="sibTrans" presStyleCnt="0"/>
      <dgm:spPr/>
    </dgm:pt>
    <dgm:pt modelId="{79ABA6BA-3A8B-481C-B9A4-74DD031BE4AF}" type="pres">
      <dgm:prSet presAssocID="{F50077BC-E83A-4A1B-BF5B-E712D0C80565}" presName="compNode" presStyleCnt="0"/>
      <dgm:spPr/>
    </dgm:pt>
    <dgm:pt modelId="{97F96912-6A55-47E4-8CAC-312C70F5C381}" type="pres">
      <dgm:prSet presAssocID="{F50077BC-E83A-4A1B-BF5B-E712D0C8056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3EFBF698-1BB5-445C-BF83-58C111C8A87A}" type="pres">
      <dgm:prSet presAssocID="{F50077BC-E83A-4A1B-BF5B-E712D0C80565}" presName="spaceRect" presStyleCnt="0"/>
      <dgm:spPr/>
    </dgm:pt>
    <dgm:pt modelId="{F2E57C8B-552F-4DBA-87FF-224C27FC68AB}" type="pres">
      <dgm:prSet presAssocID="{F50077BC-E83A-4A1B-BF5B-E712D0C80565}" presName="textRect" presStyleLbl="revTx" presStyleIdx="2" presStyleCnt="4">
        <dgm:presLayoutVars>
          <dgm:chMax val="1"/>
          <dgm:chPref val="1"/>
        </dgm:presLayoutVars>
      </dgm:prSet>
      <dgm:spPr/>
    </dgm:pt>
    <dgm:pt modelId="{D55C0540-6D57-49C8-9E46-463B253FA0C5}" type="pres">
      <dgm:prSet presAssocID="{8F249A66-FEE3-4B04-B7D7-F1AA22BBFE6F}" presName="sibTrans" presStyleCnt="0"/>
      <dgm:spPr/>
    </dgm:pt>
    <dgm:pt modelId="{F5363959-788B-4EE1-A2AA-CF6A3803E7D1}" type="pres">
      <dgm:prSet presAssocID="{F4BFF563-1E06-4CCE-90B3-7A7211897F79}" presName="compNode" presStyleCnt="0"/>
      <dgm:spPr/>
    </dgm:pt>
    <dgm:pt modelId="{E7139198-D94A-4501-AE57-059228291D3D}" type="pres">
      <dgm:prSet presAssocID="{F4BFF563-1E06-4CCE-90B3-7A7211897F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A7040B03-3D59-4CB9-A847-B1945B38AAD2}" type="pres">
      <dgm:prSet presAssocID="{F4BFF563-1E06-4CCE-90B3-7A7211897F79}" presName="spaceRect" presStyleCnt="0"/>
      <dgm:spPr/>
    </dgm:pt>
    <dgm:pt modelId="{8BD7BB9E-259B-4B95-A1B5-42FE1896AA5A}" type="pres">
      <dgm:prSet presAssocID="{F4BFF563-1E06-4CCE-90B3-7A7211897F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1B6D934-9AC2-48EC-BA48-6B895D716047}" type="presOf" srcId="{35560736-AD2F-43DE-921F-648D43FD5020}" destId="{9C7D38E0-780E-465A-9803-41923F2F6DF7}" srcOrd="0" destOrd="0" presId="urn:microsoft.com/office/officeart/2018/2/layout/IconLabelList"/>
    <dgm:cxn modelId="{4EF57062-E4C5-456A-A1AD-57162011C405}" type="presOf" srcId="{F50077BC-E83A-4A1B-BF5B-E712D0C80565}" destId="{F2E57C8B-552F-4DBA-87FF-224C27FC68AB}" srcOrd="0" destOrd="0" presId="urn:microsoft.com/office/officeart/2018/2/layout/IconLabelList"/>
    <dgm:cxn modelId="{1C98586B-3651-4CB4-A04F-88922DA41022}" type="presOf" srcId="{7A101F5D-308C-481F-A9DA-6C13A1EC2E98}" destId="{AFE4BBC7-E9F2-44B1-8CAE-08E550246AA2}" srcOrd="0" destOrd="0" presId="urn:microsoft.com/office/officeart/2018/2/layout/IconLabelList"/>
    <dgm:cxn modelId="{1258F47F-1363-413A-929B-D77F645C001D}" type="presOf" srcId="{F4BFF563-1E06-4CCE-90B3-7A7211897F79}" destId="{8BD7BB9E-259B-4B95-A1B5-42FE1896AA5A}" srcOrd="0" destOrd="0" presId="urn:microsoft.com/office/officeart/2018/2/layout/IconLabelList"/>
    <dgm:cxn modelId="{26C027B0-2710-4E52-B32C-631D757EAD5F}" srcId="{35560736-AD2F-43DE-921F-648D43FD5020}" destId="{7A101F5D-308C-481F-A9DA-6C13A1EC2E98}" srcOrd="0" destOrd="0" parTransId="{1C4646C3-8C78-4744-AEC8-B4C216513300}" sibTransId="{0D592055-E217-496F-8E6F-B4C284D0628D}"/>
    <dgm:cxn modelId="{15B9ABC1-9D83-4AFA-8085-7834DFCD3FDC}" srcId="{35560736-AD2F-43DE-921F-648D43FD5020}" destId="{F4BFF563-1E06-4CCE-90B3-7A7211897F79}" srcOrd="3" destOrd="0" parTransId="{1D88A7E9-E94E-443D-9781-9D950B606433}" sibTransId="{018DD796-47A3-47B4-BC6E-1E2313FFCD76}"/>
    <dgm:cxn modelId="{5B049DC2-847F-46CF-81F6-D90B7E47AA55}" srcId="{35560736-AD2F-43DE-921F-648D43FD5020}" destId="{F50077BC-E83A-4A1B-BF5B-E712D0C80565}" srcOrd="2" destOrd="0" parTransId="{BCB73EEB-300A-48E3-A84B-004F2B92E993}" sibTransId="{8F249A66-FEE3-4B04-B7D7-F1AA22BBFE6F}"/>
    <dgm:cxn modelId="{34B043C8-E25A-44E9-8F5D-3ADE24DEAC7A}" srcId="{35560736-AD2F-43DE-921F-648D43FD5020}" destId="{65384E7E-9262-4A75-B023-3D08A5FD883B}" srcOrd="1" destOrd="0" parTransId="{91CAAF2F-6151-4548-BE5C-607E8FA237F4}" sibTransId="{36A824FD-CACC-4287-9315-5A175299FA4F}"/>
    <dgm:cxn modelId="{4B258DFE-04CB-4826-836C-F75A68E86CF7}" type="presOf" srcId="{65384E7E-9262-4A75-B023-3D08A5FD883B}" destId="{B87A0F4D-3E7D-467D-9990-FA95DC9DC6D5}" srcOrd="0" destOrd="0" presId="urn:microsoft.com/office/officeart/2018/2/layout/IconLabelList"/>
    <dgm:cxn modelId="{24A0993C-50F2-40A5-B79E-2B71F49E0481}" type="presParOf" srcId="{9C7D38E0-780E-465A-9803-41923F2F6DF7}" destId="{F2292ED2-C428-425F-8672-CA81ADCD2557}" srcOrd="0" destOrd="0" presId="urn:microsoft.com/office/officeart/2018/2/layout/IconLabelList"/>
    <dgm:cxn modelId="{E02B2EAF-C8F0-42C8-9F37-4DB6CF5EEB7B}" type="presParOf" srcId="{F2292ED2-C428-425F-8672-CA81ADCD2557}" destId="{37E316F2-D566-4DE0-8006-2A494DB62A09}" srcOrd="0" destOrd="0" presId="urn:microsoft.com/office/officeart/2018/2/layout/IconLabelList"/>
    <dgm:cxn modelId="{20635407-0B81-4EC9-A4D2-5223BB873E14}" type="presParOf" srcId="{F2292ED2-C428-425F-8672-CA81ADCD2557}" destId="{AF546A2A-9D88-4F60-8050-EDDA86AE2DF8}" srcOrd="1" destOrd="0" presId="urn:microsoft.com/office/officeart/2018/2/layout/IconLabelList"/>
    <dgm:cxn modelId="{9BB7B845-9469-4309-970B-5F38FDBE9E44}" type="presParOf" srcId="{F2292ED2-C428-425F-8672-CA81ADCD2557}" destId="{AFE4BBC7-E9F2-44B1-8CAE-08E550246AA2}" srcOrd="2" destOrd="0" presId="urn:microsoft.com/office/officeart/2018/2/layout/IconLabelList"/>
    <dgm:cxn modelId="{859777F8-5AE0-434A-A603-B0E7E4A6409C}" type="presParOf" srcId="{9C7D38E0-780E-465A-9803-41923F2F6DF7}" destId="{827F353F-8CE9-4011-A033-1FCA5325A97B}" srcOrd="1" destOrd="0" presId="urn:microsoft.com/office/officeart/2018/2/layout/IconLabelList"/>
    <dgm:cxn modelId="{549164C0-E8F5-4B36-89C8-43AB07D53645}" type="presParOf" srcId="{9C7D38E0-780E-465A-9803-41923F2F6DF7}" destId="{46103021-2998-4D03-8C6D-3ABBDC47247F}" srcOrd="2" destOrd="0" presId="urn:microsoft.com/office/officeart/2018/2/layout/IconLabelList"/>
    <dgm:cxn modelId="{4929CCC1-2374-4C3E-8A0A-6E19BF6FBA26}" type="presParOf" srcId="{46103021-2998-4D03-8C6D-3ABBDC47247F}" destId="{BF0776C5-EF69-4BFA-92CB-A2989F6E996A}" srcOrd="0" destOrd="0" presId="urn:microsoft.com/office/officeart/2018/2/layout/IconLabelList"/>
    <dgm:cxn modelId="{A5E16496-9F26-4E0A-AC63-0C70C40273E5}" type="presParOf" srcId="{46103021-2998-4D03-8C6D-3ABBDC47247F}" destId="{9AB52BBE-2D8A-4CA9-8F9B-E8537F4FD4CC}" srcOrd="1" destOrd="0" presId="urn:microsoft.com/office/officeart/2018/2/layout/IconLabelList"/>
    <dgm:cxn modelId="{BB85608E-A8CC-4F77-8CF7-1CAE907FFC2B}" type="presParOf" srcId="{46103021-2998-4D03-8C6D-3ABBDC47247F}" destId="{B87A0F4D-3E7D-467D-9990-FA95DC9DC6D5}" srcOrd="2" destOrd="0" presId="urn:microsoft.com/office/officeart/2018/2/layout/IconLabelList"/>
    <dgm:cxn modelId="{543F960B-BBA5-4CF1-A6CA-36E5521F763B}" type="presParOf" srcId="{9C7D38E0-780E-465A-9803-41923F2F6DF7}" destId="{E08AAA96-6820-4801-9642-7B277D923AF9}" srcOrd="3" destOrd="0" presId="urn:microsoft.com/office/officeart/2018/2/layout/IconLabelList"/>
    <dgm:cxn modelId="{88B09E15-9FFE-434A-A4DB-D43AF01216E3}" type="presParOf" srcId="{9C7D38E0-780E-465A-9803-41923F2F6DF7}" destId="{79ABA6BA-3A8B-481C-B9A4-74DD031BE4AF}" srcOrd="4" destOrd="0" presId="urn:microsoft.com/office/officeart/2018/2/layout/IconLabelList"/>
    <dgm:cxn modelId="{2542C64C-48D2-42DB-95E4-8FB43C0EDBF7}" type="presParOf" srcId="{79ABA6BA-3A8B-481C-B9A4-74DD031BE4AF}" destId="{97F96912-6A55-47E4-8CAC-312C70F5C381}" srcOrd="0" destOrd="0" presId="urn:microsoft.com/office/officeart/2018/2/layout/IconLabelList"/>
    <dgm:cxn modelId="{7C9CEC86-2D03-4A62-AEDC-DB1692B4285A}" type="presParOf" srcId="{79ABA6BA-3A8B-481C-B9A4-74DD031BE4AF}" destId="{3EFBF698-1BB5-445C-BF83-58C111C8A87A}" srcOrd="1" destOrd="0" presId="urn:microsoft.com/office/officeart/2018/2/layout/IconLabelList"/>
    <dgm:cxn modelId="{8EFF613B-57A8-43AA-8C09-5605C51DF5B4}" type="presParOf" srcId="{79ABA6BA-3A8B-481C-B9A4-74DD031BE4AF}" destId="{F2E57C8B-552F-4DBA-87FF-224C27FC68AB}" srcOrd="2" destOrd="0" presId="urn:microsoft.com/office/officeart/2018/2/layout/IconLabelList"/>
    <dgm:cxn modelId="{D9AE0469-9302-4333-A60E-744864699216}" type="presParOf" srcId="{9C7D38E0-780E-465A-9803-41923F2F6DF7}" destId="{D55C0540-6D57-49C8-9E46-463B253FA0C5}" srcOrd="5" destOrd="0" presId="urn:microsoft.com/office/officeart/2018/2/layout/IconLabelList"/>
    <dgm:cxn modelId="{796AF0D6-4B26-4E93-AA2E-3963CE9D968F}" type="presParOf" srcId="{9C7D38E0-780E-465A-9803-41923F2F6DF7}" destId="{F5363959-788B-4EE1-A2AA-CF6A3803E7D1}" srcOrd="6" destOrd="0" presId="urn:microsoft.com/office/officeart/2018/2/layout/IconLabelList"/>
    <dgm:cxn modelId="{AA0E2C6E-2F45-4BFD-B002-FF151D80ADFA}" type="presParOf" srcId="{F5363959-788B-4EE1-A2AA-CF6A3803E7D1}" destId="{E7139198-D94A-4501-AE57-059228291D3D}" srcOrd="0" destOrd="0" presId="urn:microsoft.com/office/officeart/2018/2/layout/IconLabelList"/>
    <dgm:cxn modelId="{1FBD835C-2737-42C0-9742-78ED92F9C592}" type="presParOf" srcId="{F5363959-788B-4EE1-A2AA-CF6A3803E7D1}" destId="{A7040B03-3D59-4CB9-A847-B1945B38AAD2}" srcOrd="1" destOrd="0" presId="urn:microsoft.com/office/officeart/2018/2/layout/IconLabelList"/>
    <dgm:cxn modelId="{06D1B14D-B073-4B9E-A302-85973BE78195}" type="presParOf" srcId="{F5363959-788B-4EE1-A2AA-CF6A3803E7D1}" destId="{8BD7BB9E-259B-4B95-A1B5-42FE1896AA5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89CE43-1CF9-4714-A48F-81187C3E3F76}">
      <dsp:nvSpPr>
        <dsp:cNvPr id="0" name=""/>
        <dsp:cNvSpPr/>
      </dsp:nvSpPr>
      <dsp:spPr>
        <a:xfrm>
          <a:off x="150787" y="631438"/>
          <a:ext cx="913700" cy="9137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B1798-41E2-4B29-A6AF-A148A0A84384}">
      <dsp:nvSpPr>
        <dsp:cNvPr id="0" name=""/>
        <dsp:cNvSpPr/>
      </dsp:nvSpPr>
      <dsp:spPr>
        <a:xfrm>
          <a:off x="342664" y="823315"/>
          <a:ext cx="529946" cy="5299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D0C3C-E161-4683-B239-7CF5AE1C09A7}">
      <dsp:nvSpPr>
        <dsp:cNvPr id="0" name=""/>
        <dsp:cNvSpPr/>
      </dsp:nvSpPr>
      <dsp:spPr>
        <a:xfrm>
          <a:off x="1260281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Blockchain: A decentralized, immutable ledger</a:t>
          </a:r>
        </a:p>
      </dsp:txBody>
      <dsp:txXfrm>
        <a:off x="1260281" y="631438"/>
        <a:ext cx="2153723" cy="913700"/>
      </dsp:txXfrm>
    </dsp:sp>
    <dsp:sp modelId="{D3D708CF-534E-4F12-9B21-C3097DC82B7F}">
      <dsp:nvSpPr>
        <dsp:cNvPr id="0" name=""/>
        <dsp:cNvSpPr/>
      </dsp:nvSpPr>
      <dsp:spPr>
        <a:xfrm>
          <a:off x="3789275" y="631438"/>
          <a:ext cx="913700" cy="9137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EF61E0-1282-4371-881D-8D178BCA0989}">
      <dsp:nvSpPr>
        <dsp:cNvPr id="0" name=""/>
        <dsp:cNvSpPr/>
      </dsp:nvSpPr>
      <dsp:spPr>
        <a:xfrm>
          <a:off x="3981152" y="823315"/>
          <a:ext cx="529946" cy="5299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8B930-2DC0-495F-865E-7CC21F0971E7}">
      <dsp:nvSpPr>
        <dsp:cNvPr id="0" name=""/>
        <dsp:cNvSpPr/>
      </dsp:nvSpPr>
      <dsp:spPr>
        <a:xfrm>
          <a:off x="4898769" y="631438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Ethereum: Allows for programmable contracts (smart contracts)</a:t>
          </a:r>
        </a:p>
      </dsp:txBody>
      <dsp:txXfrm>
        <a:off x="4898769" y="631438"/>
        <a:ext cx="2153723" cy="913700"/>
      </dsp:txXfrm>
    </dsp:sp>
    <dsp:sp modelId="{C908F79A-EC92-4532-8B50-1B3D392B7479}">
      <dsp:nvSpPr>
        <dsp:cNvPr id="0" name=""/>
        <dsp:cNvSpPr/>
      </dsp:nvSpPr>
      <dsp:spPr>
        <a:xfrm>
          <a:off x="150787" y="2178087"/>
          <a:ext cx="913700" cy="9137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C33045-F1A9-4E50-9F0A-171410803272}">
      <dsp:nvSpPr>
        <dsp:cNvPr id="0" name=""/>
        <dsp:cNvSpPr/>
      </dsp:nvSpPr>
      <dsp:spPr>
        <a:xfrm>
          <a:off x="342664" y="2369964"/>
          <a:ext cx="529946" cy="5299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349E3-5449-4229-8B31-2D08CBDAFAC0}">
      <dsp:nvSpPr>
        <dsp:cNvPr id="0" name=""/>
        <dsp:cNvSpPr/>
      </dsp:nvSpPr>
      <dsp:spPr>
        <a:xfrm>
          <a:off x="1260281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MetaMask: Browser extension that enables blockchain wallet interactions</a:t>
          </a:r>
        </a:p>
      </dsp:txBody>
      <dsp:txXfrm>
        <a:off x="1260281" y="2178087"/>
        <a:ext cx="2153723" cy="913700"/>
      </dsp:txXfrm>
    </dsp:sp>
    <dsp:sp modelId="{69C540ED-8E10-4889-A9DA-7B1396E77572}">
      <dsp:nvSpPr>
        <dsp:cNvPr id="0" name=""/>
        <dsp:cNvSpPr/>
      </dsp:nvSpPr>
      <dsp:spPr>
        <a:xfrm>
          <a:off x="3789275" y="2178087"/>
          <a:ext cx="913700" cy="913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39E23-1D14-4A1E-A9B7-3954DCAA4C3B}">
      <dsp:nvSpPr>
        <dsp:cNvPr id="0" name=""/>
        <dsp:cNvSpPr/>
      </dsp:nvSpPr>
      <dsp:spPr>
        <a:xfrm>
          <a:off x="3981152" y="2369964"/>
          <a:ext cx="529946" cy="5299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3935C9-98D8-484C-AF97-3F219B924E02}">
      <dsp:nvSpPr>
        <dsp:cNvPr id="0" name=""/>
        <dsp:cNvSpPr/>
      </dsp:nvSpPr>
      <dsp:spPr>
        <a:xfrm>
          <a:off x="4898769" y="2178087"/>
          <a:ext cx="2153723" cy="913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Ethers.js: JavaScript library to interact with Ethereum in our frontend</a:t>
          </a:r>
        </a:p>
      </dsp:txBody>
      <dsp:txXfrm>
        <a:off x="4898769" y="2178087"/>
        <a:ext cx="2153723" cy="913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8A183-1572-4020-9647-B74E09733404}">
      <dsp:nvSpPr>
        <dsp:cNvPr id="0" name=""/>
        <dsp:cNvSpPr/>
      </dsp:nvSpPr>
      <dsp:spPr>
        <a:xfrm>
          <a:off x="351708" y="956874"/>
          <a:ext cx="567949" cy="5679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D942FF-6EC0-4BDB-95FA-EF2B6809F0D9}">
      <dsp:nvSpPr>
        <dsp:cNvPr id="0" name=""/>
        <dsp:cNvSpPr/>
      </dsp:nvSpPr>
      <dsp:spPr>
        <a:xfrm>
          <a:off x="4628" y="1736565"/>
          <a:ext cx="1262109" cy="631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Frontend: HTML, CSS, JavaScript, Chart.js</a:t>
          </a:r>
        </a:p>
      </dsp:txBody>
      <dsp:txXfrm>
        <a:off x="4628" y="1736565"/>
        <a:ext cx="1262109" cy="631054"/>
      </dsp:txXfrm>
    </dsp:sp>
    <dsp:sp modelId="{9BD17A33-093C-453B-A499-9852A8030814}">
      <dsp:nvSpPr>
        <dsp:cNvPr id="0" name=""/>
        <dsp:cNvSpPr/>
      </dsp:nvSpPr>
      <dsp:spPr>
        <a:xfrm>
          <a:off x="1834687" y="956874"/>
          <a:ext cx="567949" cy="5679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4701E6-3442-4C2D-8C57-A99FD27A279D}">
      <dsp:nvSpPr>
        <dsp:cNvPr id="0" name=""/>
        <dsp:cNvSpPr/>
      </dsp:nvSpPr>
      <dsp:spPr>
        <a:xfrm>
          <a:off x="1487607" y="1736565"/>
          <a:ext cx="1262109" cy="631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Backend: Node.js with Express.js</a:t>
          </a:r>
        </a:p>
      </dsp:txBody>
      <dsp:txXfrm>
        <a:off x="1487607" y="1736565"/>
        <a:ext cx="1262109" cy="631054"/>
      </dsp:txXfrm>
    </dsp:sp>
    <dsp:sp modelId="{A5F9DA6B-4B65-4150-BFBB-58E4D65F7888}">
      <dsp:nvSpPr>
        <dsp:cNvPr id="0" name=""/>
        <dsp:cNvSpPr/>
      </dsp:nvSpPr>
      <dsp:spPr>
        <a:xfrm>
          <a:off x="3317665" y="956874"/>
          <a:ext cx="567949" cy="5679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E70BE71-9271-448A-B0ED-9C47C3617024}">
      <dsp:nvSpPr>
        <dsp:cNvPr id="0" name=""/>
        <dsp:cNvSpPr/>
      </dsp:nvSpPr>
      <dsp:spPr>
        <a:xfrm>
          <a:off x="2970585" y="1736565"/>
          <a:ext cx="1262109" cy="631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Database: MySQL</a:t>
          </a:r>
        </a:p>
      </dsp:txBody>
      <dsp:txXfrm>
        <a:off x="2970585" y="1736565"/>
        <a:ext cx="1262109" cy="631054"/>
      </dsp:txXfrm>
    </dsp:sp>
    <dsp:sp modelId="{01F91063-9569-4A6B-A416-FF4D4A5A0AB7}">
      <dsp:nvSpPr>
        <dsp:cNvPr id="0" name=""/>
        <dsp:cNvSpPr/>
      </dsp:nvSpPr>
      <dsp:spPr>
        <a:xfrm>
          <a:off x="4800644" y="956874"/>
          <a:ext cx="567949" cy="5679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B4EDCC5-5A21-4F1A-8EE6-05F7BCA5A10F}">
      <dsp:nvSpPr>
        <dsp:cNvPr id="0" name=""/>
        <dsp:cNvSpPr/>
      </dsp:nvSpPr>
      <dsp:spPr>
        <a:xfrm>
          <a:off x="4453564" y="1736565"/>
          <a:ext cx="1262109" cy="631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Blockchain: Ethereum smart contract,  Ganache for local testing</a:t>
          </a:r>
        </a:p>
      </dsp:txBody>
      <dsp:txXfrm>
        <a:off x="4453564" y="1736565"/>
        <a:ext cx="1262109" cy="631054"/>
      </dsp:txXfrm>
    </dsp:sp>
    <dsp:sp modelId="{C23364E3-AC22-42C7-BD07-D6DFC8674346}">
      <dsp:nvSpPr>
        <dsp:cNvPr id="0" name=""/>
        <dsp:cNvSpPr/>
      </dsp:nvSpPr>
      <dsp:spPr>
        <a:xfrm>
          <a:off x="6283622" y="956874"/>
          <a:ext cx="567949" cy="5679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12CC2E4-2BC9-42EF-9B42-1958D821EA02}">
      <dsp:nvSpPr>
        <dsp:cNvPr id="0" name=""/>
        <dsp:cNvSpPr/>
      </dsp:nvSpPr>
      <dsp:spPr>
        <a:xfrm>
          <a:off x="5936542" y="1736565"/>
          <a:ext cx="1262109" cy="6310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Wallet: MetaMask integration</a:t>
          </a:r>
        </a:p>
      </dsp:txBody>
      <dsp:txXfrm>
        <a:off x="5936542" y="1736565"/>
        <a:ext cx="1262109" cy="6310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316F2-D566-4DE0-8006-2A494DB62A09}">
      <dsp:nvSpPr>
        <dsp:cNvPr id="0" name=""/>
        <dsp:cNvSpPr/>
      </dsp:nvSpPr>
      <dsp:spPr>
        <a:xfrm>
          <a:off x="399914" y="700373"/>
          <a:ext cx="653378" cy="65337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FE4BBC7-E9F2-44B1-8CAE-08E550246AA2}">
      <dsp:nvSpPr>
        <dsp:cNvPr id="0" name=""/>
        <dsp:cNvSpPr/>
      </dsp:nvSpPr>
      <dsp:spPr>
        <a:xfrm>
          <a:off x="627" y="1661274"/>
          <a:ext cx="1451953" cy="1088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Fully </a:t>
          </a:r>
          <a:r>
            <a:rPr lang="en-US" sz="1500" b="1" kern="1200" dirty="0"/>
            <a:t>responsive interface</a:t>
          </a:r>
          <a:r>
            <a:rPr lang="en-US" sz="1500" kern="1200" dirty="0"/>
            <a:t> optimized for desktop and mobile platforms</a:t>
          </a:r>
        </a:p>
      </dsp:txBody>
      <dsp:txXfrm>
        <a:off x="627" y="1661274"/>
        <a:ext cx="1451953" cy="1088964"/>
      </dsp:txXfrm>
    </dsp:sp>
    <dsp:sp modelId="{BF0776C5-EF69-4BFA-92CB-A2989F6E996A}">
      <dsp:nvSpPr>
        <dsp:cNvPr id="0" name=""/>
        <dsp:cNvSpPr/>
      </dsp:nvSpPr>
      <dsp:spPr>
        <a:xfrm>
          <a:off x="2105959" y="700373"/>
          <a:ext cx="653378" cy="65337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87A0F4D-3E7D-467D-9990-FA95DC9DC6D5}">
      <dsp:nvSpPr>
        <dsp:cNvPr id="0" name=""/>
        <dsp:cNvSpPr/>
      </dsp:nvSpPr>
      <dsp:spPr>
        <a:xfrm>
          <a:off x="1706672" y="1661274"/>
          <a:ext cx="1451953" cy="1088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Toggleable dark/light themes</a:t>
          </a:r>
          <a:r>
            <a:rPr lang="en-US" sz="1500" kern="1200" dirty="0"/>
            <a:t> with smooth CSS transitions</a:t>
          </a:r>
        </a:p>
      </dsp:txBody>
      <dsp:txXfrm>
        <a:off x="1706672" y="1661274"/>
        <a:ext cx="1451953" cy="1088964"/>
      </dsp:txXfrm>
    </dsp:sp>
    <dsp:sp modelId="{97F96912-6A55-47E4-8CAC-312C70F5C381}">
      <dsp:nvSpPr>
        <dsp:cNvPr id="0" name=""/>
        <dsp:cNvSpPr/>
      </dsp:nvSpPr>
      <dsp:spPr>
        <a:xfrm>
          <a:off x="3812004" y="700373"/>
          <a:ext cx="653378" cy="65337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E57C8B-552F-4DBA-87FF-224C27FC68AB}">
      <dsp:nvSpPr>
        <dsp:cNvPr id="0" name=""/>
        <dsp:cNvSpPr/>
      </dsp:nvSpPr>
      <dsp:spPr>
        <a:xfrm>
          <a:off x="3412717" y="1661274"/>
          <a:ext cx="1451953" cy="1088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Glass morphism-inspired UI</a:t>
          </a:r>
          <a:r>
            <a:rPr lang="en-US" sz="1500" kern="1200" dirty="0"/>
            <a:t> providing modern, visually appealing aesthetics</a:t>
          </a:r>
        </a:p>
      </dsp:txBody>
      <dsp:txXfrm>
        <a:off x="3412717" y="1661274"/>
        <a:ext cx="1451953" cy="1088964"/>
      </dsp:txXfrm>
    </dsp:sp>
    <dsp:sp modelId="{E7139198-D94A-4501-AE57-059228291D3D}">
      <dsp:nvSpPr>
        <dsp:cNvPr id="0" name=""/>
        <dsp:cNvSpPr/>
      </dsp:nvSpPr>
      <dsp:spPr>
        <a:xfrm>
          <a:off x="5518049" y="700373"/>
          <a:ext cx="653378" cy="65337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D7BB9E-259B-4B95-A1B5-42FE1896AA5A}">
      <dsp:nvSpPr>
        <dsp:cNvPr id="0" name=""/>
        <dsp:cNvSpPr/>
      </dsp:nvSpPr>
      <dsp:spPr>
        <a:xfrm>
          <a:off x="5118762" y="1661274"/>
          <a:ext cx="1451953" cy="10889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Interactive elements</a:t>
          </a:r>
          <a:r>
            <a:rPr lang="en-US" sz="1500" kern="1200" dirty="0"/>
            <a:t>, including animated buttons and floating cards for enhanced user experience</a:t>
          </a:r>
        </a:p>
      </dsp:txBody>
      <dsp:txXfrm>
        <a:off x="5118762" y="1661274"/>
        <a:ext cx="1451953" cy="1088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9476A5-13EF-B97F-4AB0-8AD3917398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FA8C1-F559-FE81-A1CC-5431D5E539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BF7D2-2A4E-4711-87EC-EC9680DC76B1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93461-E563-288D-CC56-F152F4F3C1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3914E-59D2-1C54-1450-B7F395A98F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CCD82-A58D-4CA0-8234-72274B6A4F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193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27ECC-09AC-4BD1-9779-8C40916808A7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B2AB8-7D1D-409C-BB70-08247F718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677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"Good morning/afternoon everyone.</a:t>
            </a:r>
            <a:br>
              <a:rPr lang="en-US" dirty="0"/>
            </a:br>
            <a:r>
              <a:rPr lang="en-US" dirty="0"/>
              <a:t>I'm Mohammad Sohail, and alongside my colleague Omar, we’ve developed a </a:t>
            </a:r>
            <a:r>
              <a:rPr lang="en-US" i="1" dirty="0"/>
              <a:t>Decentralized Voting System</a:t>
            </a:r>
            <a:r>
              <a:rPr lang="en-US" dirty="0"/>
              <a:t> built on the Ethereum blockchain, supervised by Dr. Ramzi Saifan.</a:t>
            </a:r>
            <a:br>
              <a:rPr lang="en-US" dirty="0"/>
            </a:br>
            <a:r>
              <a:rPr lang="en-US" dirty="0"/>
              <a:t>Let’s walk you through how blockchain can make voting secure and trustworthy."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181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“Let me start with a summary of what we built.</a:t>
            </a:r>
            <a:br>
              <a:rPr lang="en-US" dirty="0"/>
            </a:br>
            <a:r>
              <a:rPr lang="en-US" dirty="0"/>
              <a:t>This project introduces a </a:t>
            </a:r>
            <a:r>
              <a:rPr lang="en-US" b="1" dirty="0"/>
              <a:t>secure and transparent blockchain voting system</a:t>
            </a:r>
            <a:r>
              <a:rPr lang="en-US" dirty="0"/>
              <a:t> using Ethereum.</a:t>
            </a:r>
            <a:br>
              <a:rPr lang="en-US" dirty="0"/>
            </a:br>
            <a:r>
              <a:rPr lang="en-US" dirty="0"/>
              <a:t>Unlike traditional platforms — which are often centralized and easy to manipulate — we store every vote </a:t>
            </a:r>
            <a:r>
              <a:rPr lang="en-US" b="1" dirty="0"/>
              <a:t>on-chain</a:t>
            </a:r>
            <a:r>
              <a:rPr lang="en-US" dirty="0"/>
              <a:t>, meaning it can’t be changed or deleted later.</a:t>
            </a:r>
          </a:p>
          <a:p>
            <a:pPr>
              <a:buNone/>
            </a:pPr>
            <a:r>
              <a:rPr lang="en-US" dirty="0"/>
              <a:t>We use </a:t>
            </a:r>
            <a:r>
              <a:rPr lang="en-US" b="1" dirty="0"/>
              <a:t>MetaMask</a:t>
            </a:r>
            <a:r>
              <a:rPr lang="en-US" dirty="0"/>
              <a:t> for login and wallet connection. Once users log in, they vote anonymously using hashed data.</a:t>
            </a:r>
            <a:br>
              <a:rPr lang="en-US" dirty="0"/>
            </a:br>
            <a:r>
              <a:rPr lang="en-US" dirty="0"/>
              <a:t>The system instantly displays real-time results after voting, and because the data is public on the blockchain, it’s completely verifiable.</a:t>
            </a:r>
          </a:p>
          <a:p>
            <a:r>
              <a:rPr lang="en-US" dirty="0"/>
              <a:t>Admins can add or manage blocs, but they can’t touch the vote data itself — that’s protected by smart contract logic. So, </a:t>
            </a:r>
            <a:r>
              <a:rPr lang="en-US" b="1" dirty="0"/>
              <a:t>voters control the process, not the system owners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79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Traditional voting systems are usually </a:t>
            </a:r>
            <a:r>
              <a:rPr lang="en-US" b="1" dirty="0"/>
              <a:t>centralized</a:t>
            </a:r>
            <a:r>
              <a:rPr lang="en-US" dirty="0"/>
              <a:t>, which means one organization controls everything. That makes the system </a:t>
            </a:r>
            <a:r>
              <a:rPr lang="en-US" b="1" dirty="0"/>
              <a:t>vulnerable to fraud or manipulation</a:t>
            </a:r>
            <a:r>
              <a:rPr lang="en-US" dirty="0"/>
              <a:t> — especially if no one’s watching.</a:t>
            </a:r>
          </a:p>
          <a:p>
            <a:pPr>
              <a:buNone/>
            </a:pPr>
            <a:r>
              <a:rPr lang="en-US" dirty="0"/>
              <a:t>This lack of transparency often leads to </a:t>
            </a:r>
            <a:r>
              <a:rPr lang="en-US" b="1" dirty="0"/>
              <a:t>loss of trust</a:t>
            </a:r>
            <a:r>
              <a:rPr lang="en-US" dirty="0"/>
              <a:t>. Voters can’t verify what really happened after they submit a vote.</a:t>
            </a:r>
            <a:br>
              <a:rPr lang="en-US" dirty="0"/>
            </a:br>
            <a:r>
              <a:rPr lang="en-US" dirty="0"/>
              <a:t>On top of that, traditional systems are </a:t>
            </a:r>
            <a:r>
              <a:rPr lang="en-US" b="1" dirty="0"/>
              <a:t>slow</a:t>
            </a:r>
            <a:r>
              <a:rPr lang="en-US" dirty="0"/>
              <a:t>, </a:t>
            </a:r>
            <a:r>
              <a:rPr lang="en-US" b="1" dirty="0"/>
              <a:t>hard to audit</a:t>
            </a:r>
            <a:r>
              <a:rPr lang="en-US" dirty="0"/>
              <a:t>, and can’t scale easily.</a:t>
            </a:r>
          </a:p>
          <a:p>
            <a:r>
              <a:rPr lang="en-US" dirty="0"/>
              <a:t>We wanted to solve all of that by using </a:t>
            </a:r>
            <a:r>
              <a:rPr lang="en-US" b="1" dirty="0"/>
              <a:t>blockchain</a:t>
            </a:r>
            <a:r>
              <a:rPr lang="en-US" dirty="0"/>
              <a:t>. It offers </a:t>
            </a:r>
            <a:r>
              <a:rPr lang="en-US" b="1" dirty="0"/>
              <a:t>transparency</a:t>
            </a:r>
            <a:r>
              <a:rPr lang="en-US" dirty="0"/>
              <a:t>, </a:t>
            </a:r>
            <a:r>
              <a:rPr lang="en-US" b="1" dirty="0"/>
              <a:t>integrity</a:t>
            </a:r>
            <a:r>
              <a:rPr lang="en-US" dirty="0"/>
              <a:t>, and </a:t>
            </a:r>
            <a:r>
              <a:rPr lang="en-US" b="1" dirty="0"/>
              <a:t>security</a:t>
            </a:r>
            <a:r>
              <a:rPr lang="en-US" dirty="0"/>
              <a:t> by design — and with smart contracts, the rules are enforced automatically, not by people.”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“To build our system, we relied on four key blockchain tools.</a:t>
            </a:r>
          </a:p>
          <a:p>
            <a:pPr>
              <a:buNone/>
            </a:pPr>
            <a:r>
              <a:rPr lang="en-US" dirty="0"/>
              <a:t>First, </a:t>
            </a:r>
            <a:r>
              <a:rPr lang="en-US" b="1" dirty="0"/>
              <a:t>Blockchain</a:t>
            </a:r>
            <a:r>
              <a:rPr lang="en-US" dirty="0"/>
              <a:t> itself. It’s a digital ledger — like a public notebook — where everyone can see the entries, and no one can change them once written.</a:t>
            </a:r>
          </a:p>
          <a:p>
            <a:pPr>
              <a:buNone/>
            </a:pPr>
            <a:r>
              <a:rPr lang="en-US" dirty="0"/>
              <a:t>Then we used </a:t>
            </a:r>
            <a:r>
              <a:rPr lang="en-US" b="1" dirty="0"/>
              <a:t>Ethereum</a:t>
            </a:r>
            <a:r>
              <a:rPr lang="en-US" dirty="0"/>
              <a:t>, which supports smart contracts. These are self-executing rules that handle all the voting logic automatically.</a:t>
            </a:r>
          </a:p>
          <a:p>
            <a:pPr>
              <a:buNone/>
            </a:pPr>
            <a:r>
              <a:rPr lang="en-US" dirty="0"/>
              <a:t>We integrated </a:t>
            </a:r>
            <a:r>
              <a:rPr lang="en-US" b="1" dirty="0"/>
              <a:t>MetaMask</a:t>
            </a:r>
            <a:r>
              <a:rPr lang="en-US" dirty="0"/>
              <a:t>, which is a browser extension that acts as a secure wallet. It lets users log in and sign transactions — without needing a traditional account.</a:t>
            </a:r>
          </a:p>
          <a:p>
            <a:r>
              <a:rPr lang="en-US" dirty="0"/>
              <a:t>And finally, we used </a:t>
            </a:r>
            <a:r>
              <a:rPr lang="en-US" b="1" dirty="0"/>
              <a:t>Ethers.js</a:t>
            </a:r>
            <a:r>
              <a:rPr lang="en-US" dirty="0"/>
              <a:t>, a JavaScript library that allows our frontend to talk directly to the Ethereum blockchain.”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14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“So why is blockchain the right fit for voting?</a:t>
            </a:r>
          </a:p>
          <a:p>
            <a:pPr>
              <a:buNone/>
            </a:pPr>
            <a:r>
              <a:rPr lang="en-US" dirty="0"/>
              <a:t>First, </a:t>
            </a:r>
            <a:r>
              <a:rPr lang="en-US" b="1" dirty="0"/>
              <a:t>decentralization</a:t>
            </a:r>
            <a:r>
              <a:rPr lang="en-US" dirty="0"/>
              <a:t> — it removes the need for a central authority. No single group can control the data.</a:t>
            </a:r>
          </a:p>
          <a:p>
            <a:pPr>
              <a:buNone/>
            </a:pPr>
            <a:r>
              <a:rPr lang="en-US" dirty="0"/>
              <a:t>Second, </a:t>
            </a:r>
            <a:r>
              <a:rPr lang="en-US" b="1" dirty="0"/>
              <a:t>transparency</a:t>
            </a:r>
            <a:r>
              <a:rPr lang="en-US" dirty="0"/>
              <a:t> — all transactions are visible on the public ledger. Anyone can verify the results at any time.</a:t>
            </a:r>
          </a:p>
          <a:p>
            <a:pPr>
              <a:buNone/>
            </a:pPr>
            <a:r>
              <a:rPr lang="en-US" dirty="0"/>
              <a:t>Third, </a:t>
            </a:r>
            <a:r>
              <a:rPr lang="en-US" b="1" dirty="0"/>
              <a:t>immutability</a:t>
            </a:r>
            <a:r>
              <a:rPr lang="en-US" dirty="0"/>
              <a:t> — once a vote is recorded, it can’t be changed or deleted. This protects against tampering.</a:t>
            </a:r>
          </a:p>
          <a:p>
            <a:pPr>
              <a:buNone/>
            </a:pPr>
            <a:r>
              <a:rPr lang="en-US" dirty="0"/>
              <a:t>Then there’s </a:t>
            </a:r>
            <a:r>
              <a:rPr lang="en-US" b="1" dirty="0"/>
              <a:t>security</a:t>
            </a:r>
            <a:r>
              <a:rPr lang="en-US" dirty="0"/>
              <a:t> — all data is protected with cryptography, making it nearly impossible to hack.</a:t>
            </a:r>
          </a:p>
          <a:p>
            <a:r>
              <a:rPr lang="en-US" dirty="0"/>
              <a:t>And finally, </a:t>
            </a:r>
            <a:r>
              <a:rPr lang="en-US" b="1" dirty="0"/>
              <a:t>auditability</a:t>
            </a:r>
            <a:r>
              <a:rPr lang="en-US" dirty="0"/>
              <a:t> — since every transaction is timestamped, the entire process can be reviewed step by step.</a:t>
            </a:r>
            <a:br>
              <a:rPr lang="en-US" dirty="0"/>
            </a:br>
            <a:r>
              <a:rPr lang="en-US" dirty="0"/>
              <a:t>Together, these features make blockchain a perfect match for fair and trustworthy elections.”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0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“This diagram gives a high-level view of how the system components interact.</a:t>
            </a:r>
          </a:p>
          <a:p>
            <a:pPr>
              <a:buNone/>
            </a:pPr>
            <a:r>
              <a:rPr lang="en-US" dirty="0"/>
              <a:t>It starts with the </a:t>
            </a:r>
            <a:r>
              <a:rPr lang="en-US" b="1" dirty="0"/>
              <a:t>frontend</a:t>
            </a:r>
            <a:r>
              <a:rPr lang="en-US" dirty="0"/>
              <a:t>, where the user logs in or votes. The login process sends a request to the </a:t>
            </a:r>
            <a:r>
              <a:rPr lang="en-US" b="1" dirty="0"/>
              <a:t>backend</a:t>
            </a:r>
            <a:r>
              <a:rPr lang="en-US" dirty="0"/>
              <a:t>, which communicates with the </a:t>
            </a:r>
            <a:r>
              <a:rPr lang="en-US" b="1" dirty="0"/>
              <a:t>database</a:t>
            </a:r>
            <a:r>
              <a:rPr lang="en-US" dirty="0"/>
              <a:t> to check user credentials.</a:t>
            </a:r>
          </a:p>
          <a:p>
            <a:pPr>
              <a:buNone/>
            </a:pPr>
            <a:r>
              <a:rPr lang="en-US" dirty="0"/>
              <a:t>Once logged in, the user connects to the </a:t>
            </a:r>
            <a:r>
              <a:rPr lang="en-US" b="1" dirty="0"/>
              <a:t>MetaMask wallet</a:t>
            </a:r>
            <a:r>
              <a:rPr lang="en-US" dirty="0"/>
              <a:t> — this is key because all voting interactions are done directly between the </a:t>
            </a:r>
            <a:r>
              <a:rPr lang="en-US" b="1" dirty="0"/>
              <a:t>frontend and the blockchain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 backend is involved only in login and admin features — it never touches the votes.</a:t>
            </a:r>
          </a:p>
          <a:p>
            <a:pPr>
              <a:buNone/>
            </a:pPr>
            <a:r>
              <a:rPr lang="en-US" dirty="0"/>
              <a:t>The blockchain — in this case, </a:t>
            </a:r>
            <a:r>
              <a:rPr lang="en-US" b="1" dirty="0"/>
              <a:t>Ganache</a:t>
            </a:r>
            <a:r>
              <a:rPr lang="en-US" dirty="0"/>
              <a:t> — is where votes are written via smart contracts. So even if the backend is compromised, the votes remain safe and untampered.</a:t>
            </a:r>
          </a:p>
          <a:p>
            <a:r>
              <a:rPr lang="en-US" dirty="0"/>
              <a:t>This separation ensures maximum security and decentralization.”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729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“Now let’s look at the system’s main building blocks.</a:t>
            </a:r>
          </a:p>
          <a:p>
            <a:pPr>
              <a:buNone/>
            </a:pPr>
            <a:r>
              <a:rPr lang="en-US" dirty="0"/>
              <a:t>On the left, we have the </a:t>
            </a:r>
            <a:r>
              <a:rPr lang="en-US" b="1" dirty="0"/>
              <a:t>frontend</a:t>
            </a:r>
            <a:r>
              <a:rPr lang="en-US" dirty="0"/>
              <a:t> — this is the user interface. It’s responsible for login, displaying candidates, submitting votes, and rendering real-time results.</a:t>
            </a:r>
          </a:p>
          <a:p>
            <a:pPr>
              <a:buNone/>
            </a:pPr>
            <a:r>
              <a:rPr lang="en-US" dirty="0"/>
              <a:t>Next, the </a:t>
            </a:r>
            <a:r>
              <a:rPr lang="en-US" b="1" dirty="0"/>
              <a:t>MetaMask wallet</a:t>
            </a:r>
            <a:r>
              <a:rPr lang="en-US" dirty="0"/>
              <a:t> is integrated into the frontend. It allows users to sign transactions and send them securely to the blockchain.</a:t>
            </a:r>
          </a:p>
          <a:p>
            <a:pPr>
              <a:buNone/>
            </a:pPr>
            <a:r>
              <a:rPr lang="en-US" dirty="0"/>
              <a:t>In the middle, we have the </a:t>
            </a:r>
            <a:r>
              <a:rPr lang="en-US" b="1" dirty="0"/>
              <a:t>backend</a:t>
            </a:r>
            <a:r>
              <a:rPr lang="en-US" dirty="0"/>
              <a:t>. It handles login using JWT tokens and provides admin functionality like adding or editing blocs. But again, it does not touch the vote data.</a:t>
            </a:r>
          </a:p>
          <a:p>
            <a:pPr>
              <a:buNone/>
            </a:pPr>
            <a:r>
              <a:rPr lang="en-US" dirty="0"/>
              <a:t>Then we have the </a:t>
            </a:r>
            <a:r>
              <a:rPr lang="en-US" b="1" dirty="0"/>
              <a:t>MySQL database</a:t>
            </a:r>
            <a:r>
              <a:rPr lang="en-US" dirty="0"/>
              <a:t>, which stores user info, bloc details, and admin data — but not votes.</a:t>
            </a:r>
          </a:p>
          <a:p>
            <a:r>
              <a:rPr lang="en-US" dirty="0"/>
              <a:t>Finally, the </a:t>
            </a:r>
            <a:r>
              <a:rPr lang="en-US" b="1" dirty="0"/>
              <a:t>Ethereum blockchain</a:t>
            </a:r>
            <a:r>
              <a:rPr lang="en-US" dirty="0"/>
              <a:t> is where voting happens. The smart contract stores hashed votes permanently and ensures one vote per user.”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61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“This chart walks through the full process from both the user and admin perspectives.</a:t>
            </a:r>
          </a:p>
          <a:p>
            <a:pPr>
              <a:buNone/>
            </a:pPr>
            <a:r>
              <a:rPr lang="en-US" dirty="0"/>
              <a:t>On the left, the </a:t>
            </a:r>
            <a:r>
              <a:rPr lang="en-US" b="1" dirty="0"/>
              <a:t>user</a:t>
            </a:r>
            <a:r>
              <a:rPr lang="en-US" dirty="0"/>
              <a:t> starts by visiting the website and logging in using their email and password.</a:t>
            </a:r>
          </a:p>
          <a:p>
            <a:pPr>
              <a:buNone/>
            </a:pPr>
            <a:r>
              <a:rPr lang="en-US" dirty="0"/>
              <a:t>Once logged in, the system checks: is it the first time this user is logging in? If yes, they’re asked to install MetaMask and make sure they have gas.</a:t>
            </a:r>
          </a:p>
          <a:p>
            <a:pPr>
              <a:buNone/>
            </a:pPr>
            <a:r>
              <a:rPr lang="en-US" dirty="0"/>
              <a:t>After successful wallet connection, the user selects a university bloc and a college bloc, then submits their vote. These votes are hashed and sent directly to the smart contract.</a:t>
            </a:r>
          </a:p>
          <a:p>
            <a:pPr>
              <a:buNone/>
            </a:pPr>
            <a:r>
              <a:rPr lang="en-US" dirty="0"/>
              <a:t>The user then sees </a:t>
            </a:r>
            <a:r>
              <a:rPr lang="en-US" b="1" dirty="0"/>
              <a:t>live results</a:t>
            </a:r>
            <a:r>
              <a:rPr lang="en-US" dirty="0"/>
              <a:t> rendered from the blockchain — no backend involvement.</a:t>
            </a:r>
          </a:p>
          <a:p>
            <a:pPr>
              <a:buNone/>
            </a:pPr>
            <a:r>
              <a:rPr lang="en-US" dirty="0"/>
              <a:t>On the admin side, the flow is slightly different. The admin logs in and gets access to additional options like adding, editing, or deleting blocs.</a:t>
            </a:r>
          </a:p>
          <a:p>
            <a:pPr>
              <a:buNone/>
            </a:pPr>
            <a:r>
              <a:rPr lang="en-US" dirty="0"/>
              <a:t>They can also monitor charts and results, which are updated in real time from the blockchain and displayed through </a:t>
            </a:r>
            <a:r>
              <a:rPr lang="en-US" b="1" dirty="0"/>
              <a:t>Chart.js</a:t>
            </a:r>
            <a:r>
              <a:rPr lang="en-US" dirty="0"/>
              <a:t>.</a:t>
            </a:r>
          </a:p>
          <a:p>
            <a:r>
              <a:rPr lang="en-US" dirty="0"/>
              <a:t>This flow ensures a </a:t>
            </a:r>
            <a:r>
              <a:rPr lang="en-US" b="1" dirty="0"/>
              <a:t>clear separation of roles</a:t>
            </a:r>
            <a:r>
              <a:rPr lang="en-US" dirty="0"/>
              <a:t>, and it maintains decentralization and data integrity throughout.”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70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“This is the main voting interface users interact with.</a:t>
            </a:r>
            <a:br>
              <a:rPr lang="en-US" dirty="0"/>
            </a:br>
            <a:r>
              <a:rPr lang="en-US" dirty="0"/>
              <a:t>We designed it to be </a:t>
            </a:r>
            <a:r>
              <a:rPr lang="en-US" b="1" dirty="0"/>
              <a:t>clean and responsive</a:t>
            </a:r>
            <a:r>
              <a:rPr lang="en-US" dirty="0"/>
              <a:t>, so it works well on both desktop and mobile.</a:t>
            </a:r>
            <a:br>
              <a:rPr lang="en-US" dirty="0"/>
            </a:br>
            <a:r>
              <a:rPr lang="en-US" dirty="0"/>
              <a:t>When users log in, they’re asked to connect their </a:t>
            </a:r>
            <a:r>
              <a:rPr lang="en-US" b="1" dirty="0"/>
              <a:t>MetaMask wallet</a:t>
            </a:r>
            <a:r>
              <a:rPr lang="en-US" dirty="0"/>
              <a:t> — which ties their Ethereum address to their session.</a:t>
            </a:r>
          </a:p>
          <a:p>
            <a:r>
              <a:rPr lang="en-US" dirty="0"/>
              <a:t>The voting page includes options to select both </a:t>
            </a:r>
            <a:r>
              <a:rPr lang="en-US" b="1" dirty="0"/>
              <a:t>university</a:t>
            </a:r>
            <a:r>
              <a:rPr lang="en-US" dirty="0"/>
              <a:t> and </a:t>
            </a:r>
            <a:r>
              <a:rPr lang="en-US" b="1" dirty="0"/>
              <a:t>college blocs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After casting their votes, users get </a:t>
            </a:r>
            <a:r>
              <a:rPr lang="en-US" b="1" dirty="0"/>
              <a:t>visual confirmation</a:t>
            </a:r>
            <a:r>
              <a:rPr lang="en-US" dirty="0"/>
              <a:t> and instantly see updated vote results from the blockchain.</a:t>
            </a:r>
            <a:br>
              <a:rPr lang="en-US" dirty="0"/>
            </a:br>
            <a:r>
              <a:rPr lang="en-US" dirty="0"/>
              <a:t>Everything is handled on the frontend, and the experience is smooth and interactive.”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77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“The backend is focused on login and admin features.</a:t>
            </a:r>
            <a:br>
              <a:rPr lang="en-US" dirty="0"/>
            </a:br>
            <a:r>
              <a:rPr lang="en-US" dirty="0"/>
              <a:t>It handles </a:t>
            </a:r>
            <a:r>
              <a:rPr lang="en-US" b="1" dirty="0"/>
              <a:t>user authentication</a:t>
            </a:r>
            <a:r>
              <a:rPr lang="en-US" dirty="0"/>
              <a:t> using JWT — JSON Web Tokens — to secure session data.</a:t>
            </a:r>
          </a:p>
          <a:p>
            <a:pPr>
              <a:buNone/>
            </a:pPr>
            <a:r>
              <a:rPr lang="en-US" dirty="0"/>
              <a:t>However, the </a:t>
            </a:r>
            <a:r>
              <a:rPr lang="en-US" b="1" dirty="0"/>
              <a:t>voting process is not handled by the backend</a:t>
            </a:r>
            <a:r>
              <a:rPr lang="en-US" dirty="0"/>
              <a:t>. Votes go </a:t>
            </a:r>
            <a:r>
              <a:rPr lang="en-US" b="1" dirty="0"/>
              <a:t>directly from the frontend to the blockchain</a:t>
            </a:r>
            <a:r>
              <a:rPr lang="en-US" dirty="0"/>
              <a:t> using Ethers.js.</a:t>
            </a:r>
          </a:p>
          <a:p>
            <a:r>
              <a:rPr lang="en-US" dirty="0"/>
              <a:t>The backend is only used to manage </a:t>
            </a:r>
            <a:r>
              <a:rPr lang="en-US" b="1" dirty="0"/>
              <a:t>university and college blocs</a:t>
            </a:r>
            <a:r>
              <a:rPr lang="en-US" dirty="0"/>
              <a:t>, and only admins can access those routes.</a:t>
            </a:r>
            <a:br>
              <a:rPr lang="en-US" dirty="0"/>
            </a:br>
            <a:r>
              <a:rPr lang="en-US" dirty="0"/>
              <a:t>This separation adds security and keeps vote handling truly decentralized.”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807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“Our smart contract was written in </a:t>
            </a:r>
            <a:r>
              <a:rPr lang="en-US" b="1" dirty="0"/>
              <a:t>Solidity</a:t>
            </a:r>
            <a:r>
              <a:rPr lang="en-US" dirty="0"/>
              <a:t> and deployed on an Ethereum-compatible test network.</a:t>
            </a:r>
            <a:br>
              <a:rPr lang="en-US" dirty="0"/>
            </a:br>
            <a:r>
              <a:rPr lang="en-US" dirty="0"/>
              <a:t>It includes two voting functions: vote() for university blocs and </a:t>
            </a:r>
            <a:r>
              <a:rPr lang="en-US" dirty="0" err="1"/>
              <a:t>voteCollegeBloc</a:t>
            </a:r>
            <a:r>
              <a:rPr lang="en-US" dirty="0"/>
              <a:t>() for college blocs.</a:t>
            </a:r>
          </a:p>
          <a:p>
            <a:pPr>
              <a:buNone/>
            </a:pPr>
            <a:r>
              <a:rPr lang="en-US" dirty="0"/>
              <a:t>To prevent someone from voting more than once — even using different wallets — we hash the user’s email.</a:t>
            </a:r>
            <a:br>
              <a:rPr lang="en-US" dirty="0"/>
            </a:br>
            <a:r>
              <a:rPr lang="en-US" dirty="0"/>
              <a:t>This </a:t>
            </a:r>
            <a:r>
              <a:rPr lang="en-US" dirty="0" err="1"/>
              <a:t>emailHash</a:t>
            </a:r>
            <a:r>
              <a:rPr lang="en-US" dirty="0"/>
              <a:t> is sent to the contract and stored after voting. If a duplicate is detected, the contract blocks it.</a:t>
            </a:r>
          </a:p>
          <a:p>
            <a:r>
              <a:rPr lang="en-US" dirty="0"/>
              <a:t>This ensures </a:t>
            </a:r>
            <a:r>
              <a:rPr lang="en-US" b="1" dirty="0"/>
              <a:t>one person can only vote once</a:t>
            </a:r>
            <a:r>
              <a:rPr lang="en-US" dirty="0"/>
              <a:t>, and the contract logic makes it impossible to bypass.”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76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“Once a vote is cast, users immediately see the </a:t>
            </a:r>
            <a:r>
              <a:rPr lang="en-US" b="1" dirty="0"/>
              <a:t>updated vote results</a:t>
            </a:r>
            <a:r>
              <a:rPr lang="en-US" dirty="0"/>
              <a:t> on the same screen.</a:t>
            </a:r>
          </a:p>
          <a:p>
            <a:pPr>
              <a:buNone/>
            </a:pPr>
            <a:r>
              <a:rPr lang="en-US" dirty="0"/>
              <a:t>We use </a:t>
            </a:r>
            <a:r>
              <a:rPr lang="en-US" b="1" dirty="0"/>
              <a:t>Chart.js</a:t>
            </a:r>
            <a:r>
              <a:rPr lang="en-US" dirty="0"/>
              <a:t> to display real-time results for both university and college blocs.</a:t>
            </a:r>
          </a:p>
          <a:p>
            <a:pPr>
              <a:buNone/>
            </a:pPr>
            <a:r>
              <a:rPr lang="en-US" dirty="0"/>
              <a:t>The charts are clean, animated, and highlight the current winner.</a:t>
            </a:r>
            <a:br>
              <a:rPr lang="en-US" dirty="0"/>
            </a:br>
            <a:r>
              <a:rPr lang="en-US" dirty="0"/>
              <a:t>There’s also a dropdown to switch between colleges so users can view results specific to their faculty.</a:t>
            </a:r>
          </a:p>
          <a:p>
            <a:r>
              <a:rPr lang="en-US" dirty="0"/>
              <a:t>Since results are pulled from the blockchain, they reflect the </a:t>
            </a:r>
            <a:r>
              <a:rPr lang="en-US" b="1" dirty="0"/>
              <a:t>true state of votes</a:t>
            </a:r>
            <a:r>
              <a:rPr lang="en-US" dirty="0"/>
              <a:t> — nothing is faked or cached.”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90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“The admin panel is separate from the user interface.</a:t>
            </a:r>
            <a:br>
              <a:rPr lang="en-US" dirty="0"/>
            </a:br>
            <a:r>
              <a:rPr lang="en-US" dirty="0"/>
              <a:t>Admins can </a:t>
            </a:r>
            <a:r>
              <a:rPr lang="en-US" b="1" dirty="0"/>
              <a:t>add, edit, or delete</a:t>
            </a:r>
            <a:r>
              <a:rPr lang="en-US" dirty="0"/>
              <a:t> blocs using simple forms.</a:t>
            </a:r>
          </a:p>
          <a:p>
            <a:pPr>
              <a:buNone/>
            </a:pPr>
            <a:r>
              <a:rPr lang="en-US" dirty="0"/>
              <a:t>There’s also a dropdown to filter college-specific results and a real-time chart area that updates after each voting event.</a:t>
            </a:r>
          </a:p>
          <a:p>
            <a:pPr>
              <a:buNone/>
            </a:pPr>
            <a:r>
              <a:rPr lang="en-US" dirty="0"/>
              <a:t>The system keeps the </a:t>
            </a:r>
            <a:r>
              <a:rPr lang="en-US" b="1" dirty="0"/>
              <a:t>database and smart contract in sync</a:t>
            </a:r>
            <a:r>
              <a:rPr lang="en-US" dirty="0"/>
              <a:t>, and only admins have access through role-based login.</a:t>
            </a:r>
          </a:p>
          <a:p>
            <a:r>
              <a:rPr lang="en-US" dirty="0"/>
              <a:t>This gives admins the ability to manage the system but </a:t>
            </a:r>
            <a:r>
              <a:rPr lang="en-US" b="1" dirty="0"/>
              <a:t>not alter votes</a:t>
            </a:r>
            <a:r>
              <a:rPr lang="en-US" dirty="0"/>
              <a:t> — preserving transparency.”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77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“We also added features to make the interface more modern and engaging.</a:t>
            </a:r>
          </a:p>
          <a:p>
            <a:pPr>
              <a:buNone/>
            </a:pPr>
            <a:r>
              <a:rPr lang="en-US" dirty="0"/>
              <a:t>The UI is </a:t>
            </a:r>
            <a:r>
              <a:rPr lang="en-US" b="1" dirty="0"/>
              <a:t>fully responsive</a:t>
            </a:r>
            <a:r>
              <a:rPr lang="en-US" dirty="0"/>
              <a:t>, so it adapts to any screen size.</a:t>
            </a:r>
          </a:p>
          <a:p>
            <a:pPr>
              <a:buNone/>
            </a:pPr>
            <a:r>
              <a:rPr lang="en-US" dirty="0"/>
              <a:t>Users can switch between </a:t>
            </a:r>
            <a:r>
              <a:rPr lang="en-US" b="1" dirty="0"/>
              <a:t>dark and light themes</a:t>
            </a:r>
            <a:r>
              <a:rPr lang="en-US" dirty="0"/>
              <a:t> with a single button.</a:t>
            </a:r>
          </a:p>
          <a:p>
            <a:pPr>
              <a:buNone/>
            </a:pPr>
            <a:r>
              <a:rPr lang="en-US" dirty="0"/>
              <a:t>We applied </a:t>
            </a:r>
            <a:r>
              <a:rPr lang="en-US" b="1" dirty="0" err="1"/>
              <a:t>glassmorphism</a:t>
            </a:r>
            <a:r>
              <a:rPr lang="en-US" dirty="0"/>
              <a:t> styling to enhance the visuals — and added interactive elements like floating cards and button animations.</a:t>
            </a:r>
          </a:p>
          <a:p>
            <a:r>
              <a:rPr lang="en-US" dirty="0"/>
              <a:t>These enhancements improve usability and create a better user experience.”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6450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“Security was a major focus in our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User passwords are </a:t>
            </a:r>
            <a:r>
              <a:rPr lang="en-US" b="1" dirty="0"/>
              <a:t>hashed</a:t>
            </a:r>
            <a:r>
              <a:rPr lang="en-US" dirty="0"/>
              <a:t> in the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Voter </a:t>
            </a:r>
            <a:r>
              <a:rPr lang="en-US" b="1" dirty="0"/>
              <a:t>emails are hashed</a:t>
            </a:r>
            <a:r>
              <a:rPr lang="en-US" dirty="0"/>
              <a:t> before being sent to the blockchain.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votes themselves are </a:t>
            </a:r>
            <a:r>
              <a:rPr lang="en-US" b="1" dirty="0"/>
              <a:t>salted and hashed</a:t>
            </a:r>
            <a:r>
              <a:rPr lang="en-US" dirty="0"/>
              <a:t>, so they’re unreadable even if intercepted.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Finally, our smart contract logic ensures </a:t>
            </a:r>
            <a:r>
              <a:rPr lang="en-US" b="1" dirty="0"/>
              <a:t>one vote per person</a:t>
            </a:r>
            <a:r>
              <a:rPr lang="en-US" dirty="0"/>
              <a:t>, with all voting activity stored permanently on-chain.</a:t>
            </a:r>
          </a:p>
          <a:p>
            <a:r>
              <a:rPr lang="en-US" dirty="0"/>
              <a:t>This combination makes the system </a:t>
            </a:r>
            <a:r>
              <a:rPr lang="en-US" b="1" dirty="0"/>
              <a:t>secure, private, and tamper-proof</a:t>
            </a:r>
            <a:r>
              <a:rPr lang="en-US" dirty="0"/>
              <a:t>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1193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“Now I’ll demonstrate how our system works, step by step.”</a:t>
            </a:r>
            <a:endParaRPr lang="en-US" dirty="0"/>
          </a:p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Step 1: Log in using MetaMask and registered email</a:t>
            </a:r>
            <a:endParaRPr lang="en-US" dirty="0"/>
          </a:p>
          <a:p>
            <a:pPr>
              <a:buNone/>
            </a:pPr>
            <a:r>
              <a:rPr lang="en-US" dirty="0"/>
              <a:t>“First, the user enters their email and password on the login page.</a:t>
            </a:r>
            <a:br>
              <a:rPr lang="en-US" dirty="0"/>
            </a:br>
            <a:r>
              <a:rPr lang="en-US" dirty="0"/>
              <a:t>Once authenticated, the system asks them to connect to </a:t>
            </a:r>
            <a:r>
              <a:rPr lang="en-US" b="1" dirty="0"/>
              <a:t>MetaMask</a:t>
            </a:r>
            <a:r>
              <a:rPr lang="en-US" dirty="0"/>
              <a:t>. This links their Ethereum wallet for secure voting.”</a:t>
            </a:r>
          </a:p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Step 2: Cast votes for university and college blocs</a:t>
            </a:r>
            <a:endParaRPr lang="en-US" dirty="0"/>
          </a:p>
          <a:p>
            <a:pPr>
              <a:buNone/>
            </a:pPr>
            <a:r>
              <a:rPr lang="en-US" dirty="0"/>
              <a:t>“After logging in, the user sees the list of available university blocs and college blocs.</a:t>
            </a:r>
            <a:br>
              <a:rPr lang="en-US" dirty="0"/>
            </a:br>
            <a:r>
              <a:rPr lang="en-US" dirty="0"/>
              <a:t>They choose one of each, then hit submit.</a:t>
            </a:r>
            <a:br>
              <a:rPr lang="en-US" dirty="0"/>
            </a:br>
            <a:r>
              <a:rPr lang="en-US" dirty="0"/>
              <a:t>Behind the scenes, the vote is </a:t>
            </a:r>
            <a:r>
              <a:rPr lang="en-US" b="1" dirty="0"/>
              <a:t>hashed and sent directly to the blockchain</a:t>
            </a:r>
            <a:r>
              <a:rPr lang="en-US" dirty="0"/>
              <a:t>.”</a:t>
            </a:r>
          </a:p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Step 3: View real-time vote results</a:t>
            </a:r>
            <a:endParaRPr lang="en-US" dirty="0"/>
          </a:p>
          <a:p>
            <a:pPr>
              <a:buNone/>
            </a:pPr>
            <a:r>
              <a:rPr lang="en-US" dirty="0"/>
              <a:t>“After voting, the user sees updated </a:t>
            </a:r>
            <a:r>
              <a:rPr lang="en-US" b="1" dirty="0"/>
              <a:t>Chart.js graphs</a:t>
            </a:r>
            <a:r>
              <a:rPr lang="en-US" dirty="0"/>
              <a:t> showing the live vote counts.</a:t>
            </a:r>
            <a:br>
              <a:rPr lang="en-US" dirty="0"/>
            </a:br>
            <a:r>
              <a:rPr lang="en-US" dirty="0"/>
              <a:t>The winner is highlighted, and results are refreshed instantly from the blockchain — not the backend.”</a:t>
            </a:r>
          </a:p>
          <a:p>
            <a:pPr>
              <a:buNone/>
            </a:pPr>
            <a:r>
              <a:rPr lang="en-US" dirty="0"/>
              <a:t>🔹 </a:t>
            </a:r>
            <a:r>
              <a:rPr lang="en-US" b="1" dirty="0"/>
              <a:t>Step 4: Log in as admin to manage blocs and view results</a:t>
            </a:r>
            <a:endParaRPr lang="en-US" dirty="0"/>
          </a:p>
          <a:p>
            <a:r>
              <a:rPr lang="en-US" dirty="0"/>
              <a:t>“Now we’ll switch to the </a:t>
            </a:r>
            <a:r>
              <a:rPr lang="en-US" b="1" dirty="0"/>
              <a:t>admin panel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Here, the admin can add or edit blocs and view charts filtered by college.</a:t>
            </a:r>
            <a:br>
              <a:rPr lang="en-US" dirty="0"/>
            </a:br>
            <a:r>
              <a:rPr lang="en-US" dirty="0"/>
              <a:t>Only admins can see this panel, and all interactions are </a:t>
            </a:r>
            <a:r>
              <a:rPr lang="en-US" b="1" dirty="0"/>
              <a:t>reflected live</a:t>
            </a:r>
            <a:r>
              <a:rPr lang="en-US" dirty="0"/>
              <a:t> on the blockchain and frontend charts.”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2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“Like any project, we encountered some challenges.</a:t>
            </a:r>
          </a:p>
          <a:p>
            <a:pPr>
              <a:buNone/>
            </a:pPr>
            <a:r>
              <a:rPr lang="en-US" dirty="0"/>
              <a:t>First, the system requires a </a:t>
            </a:r>
            <a:r>
              <a:rPr lang="en-US" b="1" dirty="0"/>
              <a:t>Web3 wallet like MetaMask</a:t>
            </a:r>
            <a:r>
              <a:rPr lang="en-US" dirty="0"/>
              <a:t>, which is unfamiliar to some users and adds a bit of learning curve.</a:t>
            </a:r>
          </a:p>
          <a:p>
            <a:pPr>
              <a:buNone/>
            </a:pPr>
            <a:r>
              <a:rPr lang="en-US" dirty="0"/>
              <a:t>We also faced </a:t>
            </a:r>
            <a:r>
              <a:rPr lang="en-US" b="1" dirty="0"/>
              <a:t>transaction delays</a:t>
            </a:r>
            <a:r>
              <a:rPr lang="en-US" dirty="0"/>
              <a:t> and </a:t>
            </a:r>
            <a:r>
              <a:rPr lang="en-US" b="1" dirty="0"/>
              <a:t>user rejections</a:t>
            </a:r>
            <a:r>
              <a:rPr lang="en-US" dirty="0"/>
              <a:t> in MetaMask, especially when users weren’t familiar with signing or confirming gas fees.</a:t>
            </a:r>
          </a:p>
          <a:p>
            <a:r>
              <a:rPr lang="en-US" dirty="0"/>
              <a:t>Lastly, the system currently runs in a </a:t>
            </a:r>
            <a:r>
              <a:rPr lang="en-US" b="1" dirty="0"/>
              <a:t>local environment</a:t>
            </a:r>
            <a:r>
              <a:rPr lang="en-US" dirty="0"/>
              <a:t>, which means it’s not yet ready to scale to national-level elections.</a:t>
            </a:r>
            <a:br>
              <a:rPr lang="en-US" dirty="0"/>
            </a:br>
            <a:r>
              <a:rPr lang="en-US" dirty="0"/>
              <a:t>However, it’s built in a way that makes scaling and public deployment possible later.”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49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“Looking ahead, we have several enhancements in mind.</a:t>
            </a:r>
          </a:p>
          <a:p>
            <a:pPr>
              <a:buNone/>
            </a:pPr>
            <a:r>
              <a:rPr lang="en-US" dirty="0"/>
              <a:t>We plan to </a:t>
            </a:r>
            <a:r>
              <a:rPr lang="en-US" b="1" dirty="0"/>
              <a:t>deploy the system on a public Ethereum or Polygon network</a:t>
            </a:r>
            <a:r>
              <a:rPr lang="en-US" dirty="0"/>
              <a:t> — this will allow full decentralization and real-world usage.</a:t>
            </a:r>
          </a:p>
          <a:p>
            <a:pPr>
              <a:buNone/>
            </a:pPr>
            <a:r>
              <a:rPr lang="en-US" dirty="0"/>
              <a:t>We also want to integrate </a:t>
            </a:r>
            <a:r>
              <a:rPr lang="en-US" b="1" dirty="0"/>
              <a:t>zero-knowledge proofs (zk-SNARKs)</a:t>
            </a:r>
            <a:r>
              <a:rPr lang="en-US" dirty="0"/>
              <a:t> to protect user privacy while still proving the vote happened.</a:t>
            </a:r>
          </a:p>
          <a:p>
            <a:pPr>
              <a:buNone/>
            </a:pPr>
            <a:r>
              <a:rPr lang="en-US" dirty="0"/>
              <a:t>Another improvement is </a:t>
            </a:r>
            <a:r>
              <a:rPr lang="en-US" b="1" dirty="0"/>
              <a:t>email-based verification codes</a:t>
            </a:r>
            <a:r>
              <a:rPr lang="en-US" dirty="0"/>
              <a:t> to prevent fake logins or double accounts.</a:t>
            </a:r>
          </a:p>
          <a:p>
            <a:r>
              <a:rPr lang="en-US" dirty="0"/>
              <a:t>Finally, we want to </a:t>
            </a:r>
            <a:r>
              <a:rPr lang="en-US" b="1" dirty="0"/>
              <a:t>generalize</a:t>
            </a:r>
            <a:r>
              <a:rPr lang="en-US" dirty="0"/>
              <a:t> this system so it can be used by universities, companies, or even government agencies.”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0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“To wrap up, here are the main conclusions from our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Blockchain helps solve some of the biggest problems in voting — like tampering and lack of trust.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Our smart contract ensures only one vote per person, and that vote can’t be changed.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interface is simple, responsive, and gives live results to increase transparency.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Overall, we’ve developed a secure, </a:t>
            </a:r>
            <a:r>
              <a:rPr lang="en-US" b="1" dirty="0"/>
              <a:t>tamper-proof voting system</a:t>
            </a:r>
            <a:r>
              <a:rPr lang="en-US" dirty="0"/>
              <a:t> that can be applied in schools, universities, or organizations.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23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“Thank you for your attention.</a:t>
            </a:r>
            <a:br>
              <a:rPr lang="en-US" dirty="0"/>
            </a:br>
            <a:r>
              <a:rPr lang="en-US" dirty="0"/>
              <a:t>We really appreciate the opportunity to present this project.</a:t>
            </a:r>
            <a:br>
              <a:rPr lang="en-US" dirty="0"/>
            </a:br>
            <a:r>
              <a:rPr lang="en-US" dirty="0"/>
              <a:t>Your feedback is welcome!”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B2AB8-7D1D-409C-BB70-08247F71860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351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87951-7FB5-441C-88C2-3988E233042C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420" y="5650301"/>
            <a:ext cx="692580" cy="43990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700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2F8A9-EB2E-4D07-9831-BB155516C78D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71140" y="5658928"/>
            <a:ext cx="672860" cy="419856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602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94DE2-F36F-4A85-A304-83D729D49522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60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A710A-26A2-4628-886D-1E3128BF9ED1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279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21AAA-D915-4E6F-AC2D-CBE2F5F1242B}" type="datetime1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01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7F80D-4A56-4B39-84F1-0FAA27BB7BCD}" type="datetime1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035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24E67-8931-4305-8703-510AC095DA18}" type="datetime1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62512" y="5658927"/>
            <a:ext cx="681487" cy="43990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59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47BF2-8111-45F6-B0C4-7CFEE24F9ECB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745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2227C985-A837-473C-B6A1-A1BA9072CCE9}" type="datetime1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935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A8D0F-632A-4033-82D5-99BD081609D7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834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87B17-CC87-46C9-9D30-C7C7398D7795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1109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316A8-6E31-4EAF-BFC7-523DA974F2E3}" type="datetime1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90257" y="5667555"/>
            <a:ext cx="653743" cy="4335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7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659C3C-D0EC-F730-D3C2-064CA9DBBDC8}"/>
              </a:ext>
            </a:extLst>
          </p:cNvPr>
          <p:cNvSpPr txBox="1"/>
          <p:nvPr/>
        </p:nvSpPr>
        <p:spPr>
          <a:xfrm>
            <a:off x="1647642" y="149684"/>
            <a:ext cx="55812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effectLst/>
                <a:latin typeface="+mj-lt"/>
                <a:ea typeface="Calibri" panose="020F0502020204030204" pitchFamily="34" charset="0"/>
              </a:rPr>
              <a:t>Decentralized Voting System on Ethereum Blockchain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1743B7-A9FA-CE4E-5AF1-82CDB824BAD8}"/>
              </a:ext>
            </a:extLst>
          </p:cNvPr>
          <p:cNvSpPr txBox="1"/>
          <p:nvPr/>
        </p:nvSpPr>
        <p:spPr>
          <a:xfrm>
            <a:off x="480060" y="2774313"/>
            <a:ext cx="7376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Supervisor: Dr. Ramzi Saifan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 Authors: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Mohammad Sohail Saleem Saleem 0193391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Omar Hussam Aldeen abdallah AlSheikhDurrah 0202652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E6CA8C-BCCF-4323-FB0A-23D8A9B0198F}"/>
              </a:ext>
            </a:extLst>
          </p:cNvPr>
          <p:cNvSpPr txBox="1"/>
          <p:nvPr/>
        </p:nvSpPr>
        <p:spPr>
          <a:xfrm>
            <a:off x="81948" y="4937278"/>
            <a:ext cx="8712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The University of Jordan</a:t>
            </a:r>
          </a:p>
          <a:p>
            <a:pPr algn="ctr"/>
            <a:r>
              <a:rPr lang="en-US" i="1" dirty="0"/>
              <a:t> School of Engineering – Department of Computer Engineering</a:t>
            </a:r>
            <a:br>
              <a:rPr lang="en-US" dirty="0"/>
            </a:br>
            <a:r>
              <a:rPr lang="en-US" i="1" dirty="0"/>
              <a:t>Date: June 3, 2025</a:t>
            </a:r>
          </a:p>
        </p:txBody>
      </p:sp>
      <p:pic>
        <p:nvPicPr>
          <p:cNvPr id="13" name="Picture 12" descr="A green shield with red and black text&#10;&#10;AI-generated content may be incorrect.">
            <a:extLst>
              <a:ext uri="{FF2B5EF4-FFF2-40B4-BE49-F238E27FC236}">
                <a16:creationId xmlns:a16="http://schemas.microsoft.com/office/drawing/2014/main" id="{BCFE870C-F78F-6CE6-0E4C-1CC2762026C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2528" y="235453"/>
            <a:ext cx="1269444" cy="1599500"/>
          </a:xfrm>
          <a:prstGeom prst="rect">
            <a:avLst/>
          </a:prstGeom>
        </p:spPr>
      </p:pic>
      <p:pic>
        <p:nvPicPr>
          <p:cNvPr id="15" name="Picture 14" descr="A blue and white striped shield&#10;&#10;AI-generated content may be incorrect.">
            <a:extLst>
              <a:ext uri="{FF2B5EF4-FFF2-40B4-BE49-F238E27FC236}">
                <a16:creationId xmlns:a16="http://schemas.microsoft.com/office/drawing/2014/main" id="{18A30EA2-BB31-5DA3-008C-5341A4368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603" y="149685"/>
            <a:ext cx="1449030" cy="177103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FFDA2-A728-40A1-4511-7320A9DB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24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Executive Summary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41CC7DB-C2CA-8E71-5860-497E68521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0901" y="1996927"/>
            <a:ext cx="46424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introduces a secure and transparent voting platform using Ethereum blockchain.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Traditional systems are vulnerable to fraud, manipulation, and lack of trust.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address this with immutable smart contracts and role-based access control.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Voters log in securely, cast anonymous votes using hashed data, and see live results.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Admins manage blocs, while all votes are permanently stored on-chain — ensuring full integrity and transparency.</a:t>
            </a:r>
          </a:p>
        </p:txBody>
      </p:sp>
      <p:pic>
        <p:nvPicPr>
          <p:cNvPr id="6" name="Picture 5" descr="A white and blue model of a building">
            <a:extLst>
              <a:ext uri="{FF2B5EF4-FFF2-40B4-BE49-F238E27FC236}">
                <a16:creationId xmlns:a16="http://schemas.microsoft.com/office/drawing/2014/main" id="{FEA6C94F-D6D5-8BF6-986E-929F2FBEE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220" y="1954774"/>
            <a:ext cx="3637644" cy="363764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AC4D8C-A2D8-74D1-0EA3-23726B00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4314" y="2021511"/>
            <a:ext cx="6571343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Current electronic voting systems</a:t>
            </a:r>
            <a:r>
              <a:rPr lang="en-US" sz="1800" dirty="0"/>
              <a:t> are often </a:t>
            </a:r>
            <a:r>
              <a:rPr lang="en-US" sz="1800" b="1" dirty="0"/>
              <a:t>centralized</a:t>
            </a:r>
            <a:r>
              <a:rPr lang="en-US" sz="1800" dirty="0"/>
              <a:t>, lacking transparency and prone to manipulation.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Public trust is undermined</a:t>
            </a:r>
            <a:r>
              <a:rPr lang="en-US" sz="1800" dirty="0"/>
              <a:t> by the possibility of vote tampering and unverifiable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Traditional voting methods are also </a:t>
            </a:r>
            <a:r>
              <a:rPr lang="en-US" sz="1800" b="1" dirty="0"/>
              <a:t>inefficient</a:t>
            </a:r>
            <a:r>
              <a:rPr lang="en-US" sz="1800" dirty="0"/>
              <a:t>, slow to process, and not easily auditable.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Our project addresses these issues through a </a:t>
            </a:r>
            <a:r>
              <a:rPr lang="en-US" sz="1800" b="1" dirty="0"/>
              <a:t>blockchain-based architecture</a:t>
            </a:r>
            <a:r>
              <a:rPr lang="en-US" sz="1800" dirty="0"/>
              <a:t> that ensures </a:t>
            </a:r>
            <a:r>
              <a:rPr lang="en-US" sz="1800" b="1" dirty="0"/>
              <a:t>security, integrity, and verifiability</a:t>
            </a:r>
            <a:r>
              <a:rPr lang="en-US" sz="1800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5314-8356-C287-AE22-3F8C4F6B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Blockchain Basics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85C87E-2717-4899-A382-A6801A8A9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8990053"/>
              </p:ext>
            </p:extLst>
          </p:nvPr>
        </p:nvGraphicFramePr>
        <p:xfrm>
          <a:off x="1087859" y="2003693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B19BEE-AF14-EE9B-AC12-95963FCA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E4006-62D0-E9D2-184A-C2FA0BAA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804520"/>
            <a:ext cx="6665339" cy="1049235"/>
          </a:xfrm>
        </p:spPr>
        <p:txBody>
          <a:bodyPr/>
          <a:lstStyle/>
          <a:p>
            <a:r>
              <a:rPr lang="en-US" b="1" dirty="0"/>
              <a:t>Advantages of blockchain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EF58A-52DF-F857-CC0D-D332E02B4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193" y="2021511"/>
            <a:ext cx="6958637" cy="3450613"/>
          </a:xfrm>
        </p:spPr>
        <p:txBody>
          <a:bodyPr>
            <a:normAutofit fontScale="92500" lnSpcReduction="20000"/>
          </a:bodyPr>
          <a:lstStyle/>
          <a:p>
            <a:r>
              <a:rPr lang="en-US" sz="2100" b="1" dirty="0">
                <a:effectLst/>
              </a:rPr>
              <a:t>Decentralization</a:t>
            </a:r>
            <a:r>
              <a:rPr lang="en-US" sz="2100" dirty="0">
                <a:effectLst/>
              </a:rPr>
              <a:t> – Eliminates single points of failure and centralized control.</a:t>
            </a:r>
            <a:endParaRPr lang="en-US" sz="2100" dirty="0"/>
          </a:p>
          <a:p>
            <a:r>
              <a:rPr lang="en-US" sz="2100" b="1" dirty="0">
                <a:effectLst/>
              </a:rPr>
              <a:t>Transparency</a:t>
            </a:r>
            <a:r>
              <a:rPr lang="en-US" sz="2100" dirty="0">
                <a:effectLst/>
              </a:rPr>
              <a:t> – All participants can view transactions, promoting openness and verifiability.</a:t>
            </a:r>
            <a:endParaRPr lang="en-US" sz="2100" dirty="0"/>
          </a:p>
          <a:p>
            <a:r>
              <a:rPr lang="en-US" sz="2100" b="1" dirty="0">
                <a:effectLst/>
              </a:rPr>
              <a:t>Immutability</a:t>
            </a:r>
            <a:r>
              <a:rPr lang="en-US" sz="2100" dirty="0">
                <a:effectLst/>
              </a:rPr>
              <a:t> – Once data is written, it cannot be changed, ensuring vote integrity.</a:t>
            </a:r>
            <a:endParaRPr lang="en-US" sz="2100" dirty="0"/>
          </a:p>
          <a:p>
            <a:r>
              <a:rPr lang="en-US" sz="2100" b="1" dirty="0">
                <a:effectLst/>
              </a:rPr>
              <a:t>Security</a:t>
            </a:r>
            <a:r>
              <a:rPr lang="en-US" sz="2100" dirty="0">
                <a:effectLst/>
              </a:rPr>
              <a:t> – Utilizes advanced cryptography to secure transactions.</a:t>
            </a:r>
            <a:endParaRPr lang="en-US" sz="2100" dirty="0"/>
          </a:p>
          <a:p>
            <a:r>
              <a:rPr lang="en-US" sz="2100" b="1" dirty="0">
                <a:effectLst/>
              </a:rPr>
              <a:t>Auditability</a:t>
            </a:r>
            <a:r>
              <a:rPr lang="en-US" sz="2100" dirty="0">
                <a:effectLst/>
              </a:rPr>
              <a:t> – Transactions are recorded with timestamps, enabling traceable audits.</a:t>
            </a:r>
            <a:endParaRPr lang="en-US" sz="21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2043D-E6B0-07DD-EA95-02D8AF25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7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625F-F168-B72A-0A71-0A05DC29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7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design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7AB51-E2A0-D036-025A-3936BB0E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23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system interaction diagram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FEA73-2EC7-0DC7-6AE4-C8C269486CF4}"/>
              </a:ext>
            </a:extLst>
          </p:cNvPr>
          <p:cNvSpPr txBox="1"/>
          <p:nvPr/>
        </p:nvSpPr>
        <p:spPr>
          <a:xfrm>
            <a:off x="3434296" y="5845035"/>
            <a:ext cx="23052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 1: System Interaction Diagram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3F60A3-5F9F-1CB8-2CD5-77999CD48FDB}"/>
              </a:ext>
            </a:extLst>
          </p:cNvPr>
          <p:cNvSpPr/>
          <p:nvPr/>
        </p:nvSpPr>
        <p:spPr>
          <a:xfrm>
            <a:off x="3088922" y="1915996"/>
            <a:ext cx="1495425" cy="79533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Base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5716FBF-68BF-50AA-5FAE-0304A2C8467A}"/>
              </a:ext>
            </a:extLst>
          </p:cNvPr>
          <p:cNvSpPr/>
          <p:nvPr/>
        </p:nvSpPr>
        <p:spPr>
          <a:xfrm>
            <a:off x="4405359" y="3104624"/>
            <a:ext cx="1872478" cy="568049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Send query (for voting and login)</a:t>
            </a:r>
          </a:p>
          <a:p>
            <a:pPr algn="ctr"/>
            <a:r>
              <a:rPr lang="en-US" sz="1200" dirty="0"/>
              <a:t>Receive response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E6C5B2-CBEA-D734-0989-8EBBB29EAC24}"/>
              </a:ext>
            </a:extLst>
          </p:cNvPr>
          <p:cNvSpPr/>
          <p:nvPr/>
        </p:nvSpPr>
        <p:spPr>
          <a:xfrm>
            <a:off x="3088921" y="3958822"/>
            <a:ext cx="1495425" cy="79533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Backend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CD7224-8698-F571-793A-158538B91710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flipV="1">
            <a:off x="3836634" y="2711333"/>
            <a:ext cx="1" cy="12474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66EDCB-2095-DE9C-1353-2E8D25C7277F}"/>
              </a:ext>
            </a:extLst>
          </p:cNvPr>
          <p:cNvCxnSpPr>
            <a:cxnSpLocks/>
          </p:cNvCxnSpPr>
          <p:nvPr/>
        </p:nvCxnSpPr>
        <p:spPr>
          <a:xfrm>
            <a:off x="4584347" y="4153633"/>
            <a:ext cx="232859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E05717-08EF-F5A2-3A5D-D13083F1278B}"/>
              </a:ext>
            </a:extLst>
          </p:cNvPr>
          <p:cNvSpPr/>
          <p:nvPr/>
        </p:nvSpPr>
        <p:spPr>
          <a:xfrm>
            <a:off x="6912940" y="3955243"/>
            <a:ext cx="1495425" cy="79533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C7FDDE-CD1D-A361-4DD6-DCD4A1077DEA}"/>
              </a:ext>
            </a:extLst>
          </p:cNvPr>
          <p:cNvCxnSpPr>
            <a:cxnSpLocks/>
          </p:cNvCxnSpPr>
          <p:nvPr/>
        </p:nvCxnSpPr>
        <p:spPr>
          <a:xfrm>
            <a:off x="4581893" y="4483833"/>
            <a:ext cx="2331047" cy="181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9B6DAD-2F3C-8877-A969-B530BE52663B}"/>
              </a:ext>
            </a:extLst>
          </p:cNvPr>
          <p:cNvSpPr/>
          <p:nvPr/>
        </p:nvSpPr>
        <p:spPr>
          <a:xfrm>
            <a:off x="4532248" y="5012470"/>
            <a:ext cx="1495425" cy="79533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MetaMask Wallet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57EFE0B-7DA1-5A36-9DAA-C61AA799A89C}"/>
              </a:ext>
            </a:extLst>
          </p:cNvPr>
          <p:cNvSpPr/>
          <p:nvPr/>
        </p:nvSpPr>
        <p:spPr>
          <a:xfrm>
            <a:off x="966772" y="5010874"/>
            <a:ext cx="1495425" cy="795337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Blockchain</a:t>
            </a:r>
          </a:p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(Ganache)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520F5C-5FC2-7F81-0A9B-596F909276F3}"/>
              </a:ext>
            </a:extLst>
          </p:cNvPr>
          <p:cNvCxnSpPr>
            <a:cxnSpLocks/>
            <a:stCxn id="37" idx="1"/>
            <a:endCxn id="38" idx="3"/>
          </p:cNvCxnSpPr>
          <p:nvPr/>
        </p:nvCxnSpPr>
        <p:spPr>
          <a:xfrm flipH="1" flipV="1">
            <a:off x="2462197" y="5408543"/>
            <a:ext cx="2070051" cy="1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ACE7783-347B-834A-896A-0A3016B727F6}"/>
              </a:ext>
            </a:extLst>
          </p:cNvPr>
          <p:cNvSpPr txBox="1"/>
          <p:nvPr/>
        </p:nvSpPr>
        <p:spPr>
          <a:xfrm>
            <a:off x="5252105" y="3946046"/>
            <a:ext cx="913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Send Request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F6377D-5998-B341-EF37-0E7B4435252E}"/>
              </a:ext>
            </a:extLst>
          </p:cNvPr>
          <p:cNvSpPr txBox="1"/>
          <p:nvPr/>
        </p:nvSpPr>
        <p:spPr>
          <a:xfrm>
            <a:off x="5171822" y="4478050"/>
            <a:ext cx="1073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Communication Just For Login Process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BD66D20-B1FB-C532-1665-C25CBFF01B8A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3836634" y="3388649"/>
            <a:ext cx="568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4C84AB2-DD94-58C1-5FC2-8CC1E7A698A5}"/>
              </a:ext>
            </a:extLst>
          </p:cNvPr>
          <p:cNvSpPr txBox="1"/>
          <p:nvPr/>
        </p:nvSpPr>
        <p:spPr>
          <a:xfrm>
            <a:off x="6912940" y="5370898"/>
            <a:ext cx="8733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Connect to MetaMask to connect to blockchain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5862C7C-D368-B181-5334-AC1FF80A87DF}"/>
              </a:ext>
            </a:extLst>
          </p:cNvPr>
          <p:cNvCxnSpPr>
            <a:cxnSpLocks/>
            <a:stCxn id="30" idx="2"/>
            <a:endCxn id="37" idx="3"/>
          </p:cNvCxnSpPr>
          <p:nvPr/>
        </p:nvCxnSpPr>
        <p:spPr>
          <a:xfrm rot="5400000">
            <a:off x="6514384" y="4263869"/>
            <a:ext cx="659559" cy="16329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21C31C4-57B4-49FA-9B4E-F32AFB521A85}"/>
              </a:ext>
            </a:extLst>
          </p:cNvPr>
          <p:cNvSpPr txBox="1"/>
          <p:nvPr/>
        </p:nvSpPr>
        <p:spPr>
          <a:xfrm>
            <a:off x="2800784" y="5080359"/>
            <a:ext cx="139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Connect to blockchain for saving votes purpose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7B738-ABB4-13D4-E9E1-2B6A11F4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 animBg="1"/>
      <p:bldP spid="18" grpId="0" animBg="1"/>
      <p:bldP spid="21" grpId="0" animBg="1"/>
      <p:bldP spid="30" grpId="0" animBg="1"/>
      <p:bldP spid="37" grpId="0" animBg="1"/>
      <p:bldP spid="38" grpId="0" animBg="1"/>
      <p:bldP spid="45" grpId="0"/>
      <p:bldP spid="46" grpId="0"/>
      <p:bldP spid="50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System Architecture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4BA7D28-863A-61F3-0139-2A2785D636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8858427"/>
              </p:ext>
            </p:extLst>
          </p:nvPr>
        </p:nvGraphicFramePr>
        <p:xfrm>
          <a:off x="1088231" y="2340435"/>
          <a:ext cx="7203281" cy="3324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B4D570-8803-58F1-9B5B-490FFF8C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C833-45BE-83F6-B032-76851C483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538" y="804520"/>
            <a:ext cx="6342317" cy="1049235"/>
          </a:xfrm>
        </p:spPr>
        <p:txBody>
          <a:bodyPr/>
          <a:lstStyle/>
          <a:p>
            <a:r>
              <a:rPr lang="en-US" b="1" dirty="0"/>
              <a:t>System Architecture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2A371-51D4-A518-9412-54393DA901B1}"/>
              </a:ext>
            </a:extLst>
          </p:cNvPr>
          <p:cNvSpPr txBox="1"/>
          <p:nvPr/>
        </p:nvSpPr>
        <p:spPr>
          <a:xfrm>
            <a:off x="1995645" y="5858922"/>
            <a:ext cx="47320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 2: Login and Voting Flow for Users and Admins in the Blockchain Voting System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CDC77F-6F86-2442-551E-4A0664BF0DD9}"/>
              </a:ext>
            </a:extLst>
          </p:cNvPr>
          <p:cNvSpPr/>
          <p:nvPr/>
        </p:nvSpPr>
        <p:spPr>
          <a:xfrm>
            <a:off x="353377" y="2239327"/>
            <a:ext cx="1013460" cy="762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75136E-82F4-FD6C-3540-815C6E3C048E}"/>
              </a:ext>
            </a:extLst>
          </p:cNvPr>
          <p:cNvCxnSpPr>
            <a:cxnSpLocks/>
            <a:stCxn id="6" idx="6"/>
            <a:endCxn id="10" idx="1"/>
          </p:cNvCxnSpPr>
          <p:nvPr/>
        </p:nvCxnSpPr>
        <p:spPr>
          <a:xfrm>
            <a:off x="1366837" y="2620327"/>
            <a:ext cx="443701" cy="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9BCE1EDC-AEB9-E7B8-698D-2B303941920B}"/>
              </a:ext>
            </a:extLst>
          </p:cNvPr>
          <p:cNvSpPr/>
          <p:nvPr/>
        </p:nvSpPr>
        <p:spPr>
          <a:xfrm>
            <a:off x="1810538" y="2241229"/>
            <a:ext cx="1061886" cy="760097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Admin or user?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ABF5E0C-A2E7-E8B5-B84B-43BFDDAB603C}"/>
              </a:ext>
            </a:extLst>
          </p:cNvPr>
          <p:cNvCxnSpPr>
            <a:cxnSpLocks/>
            <a:stCxn id="10" idx="2"/>
            <a:endCxn id="34" idx="0"/>
          </p:cNvCxnSpPr>
          <p:nvPr/>
        </p:nvCxnSpPr>
        <p:spPr>
          <a:xfrm rot="5400000">
            <a:off x="1638093" y="2884998"/>
            <a:ext cx="587060" cy="8197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79BFE29-6BBB-A1B3-4F01-80A8B204A175}"/>
              </a:ext>
            </a:extLst>
          </p:cNvPr>
          <p:cNvSpPr/>
          <p:nvPr/>
        </p:nvSpPr>
        <p:spPr>
          <a:xfrm>
            <a:off x="1128857" y="3588386"/>
            <a:ext cx="78581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Add new college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AED52B5-34F1-7517-B7BF-4D274696D555}"/>
              </a:ext>
            </a:extLst>
          </p:cNvPr>
          <p:cNvSpPr/>
          <p:nvPr/>
        </p:nvSpPr>
        <p:spPr>
          <a:xfrm>
            <a:off x="1951193" y="3585847"/>
            <a:ext cx="78581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Change the name of the college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6C484A9-9420-91AF-4338-3BC6DA54D578}"/>
              </a:ext>
            </a:extLst>
          </p:cNvPr>
          <p:cNvSpPr/>
          <p:nvPr/>
        </p:nvSpPr>
        <p:spPr>
          <a:xfrm>
            <a:off x="2777491" y="3585847"/>
            <a:ext cx="78581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You can view the chart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AE7623A-1C23-378A-FB9B-01409EE765C1}"/>
              </a:ext>
            </a:extLst>
          </p:cNvPr>
          <p:cNvCxnSpPr>
            <a:cxnSpLocks/>
            <a:stCxn id="10" idx="2"/>
            <a:endCxn id="39" idx="0"/>
          </p:cNvCxnSpPr>
          <p:nvPr/>
        </p:nvCxnSpPr>
        <p:spPr>
          <a:xfrm>
            <a:off x="2341481" y="3001326"/>
            <a:ext cx="2619" cy="584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CD184929-9230-0B48-5C24-9F1381C47ABC}"/>
              </a:ext>
            </a:extLst>
          </p:cNvPr>
          <p:cNvCxnSpPr>
            <a:cxnSpLocks/>
            <a:stCxn id="10" idx="2"/>
            <a:endCxn id="40" idx="0"/>
          </p:cNvCxnSpPr>
          <p:nvPr/>
        </p:nvCxnSpPr>
        <p:spPr>
          <a:xfrm rot="16200000" flipH="1">
            <a:off x="2463679" y="2879127"/>
            <a:ext cx="584521" cy="8289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AE7B1D0-402D-3E81-371B-B14B6D16A362}"/>
              </a:ext>
            </a:extLst>
          </p:cNvPr>
          <p:cNvSpPr txBox="1"/>
          <p:nvPr/>
        </p:nvSpPr>
        <p:spPr>
          <a:xfrm>
            <a:off x="2284491" y="3035211"/>
            <a:ext cx="621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Admin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9C2DCB9-E779-B121-E622-483E2C80B0F7}"/>
              </a:ext>
            </a:extLst>
          </p:cNvPr>
          <p:cNvCxnSpPr>
            <a:cxnSpLocks/>
            <a:stCxn id="10" idx="3"/>
            <a:endCxn id="54" idx="1"/>
          </p:cNvCxnSpPr>
          <p:nvPr/>
        </p:nvCxnSpPr>
        <p:spPr>
          <a:xfrm flipV="1">
            <a:off x="2872424" y="2620327"/>
            <a:ext cx="535619" cy="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106B52B-FB0D-6E50-B37A-D84812EA88A4}"/>
              </a:ext>
            </a:extLst>
          </p:cNvPr>
          <p:cNvSpPr txBox="1"/>
          <p:nvPr/>
        </p:nvSpPr>
        <p:spPr>
          <a:xfrm>
            <a:off x="2848772" y="2314559"/>
            <a:ext cx="535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If User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4B07F186-43BA-EFA0-2524-88EFAA8977B5}"/>
              </a:ext>
            </a:extLst>
          </p:cNvPr>
          <p:cNvSpPr/>
          <p:nvPr/>
        </p:nvSpPr>
        <p:spPr>
          <a:xfrm>
            <a:off x="3408043" y="2391727"/>
            <a:ext cx="82740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 visit the website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ED3D5BE-0565-C812-B49E-C6A1DDD8E840}"/>
              </a:ext>
            </a:extLst>
          </p:cNvPr>
          <p:cNvCxnSpPr>
            <a:cxnSpLocks/>
            <a:stCxn id="54" idx="3"/>
            <a:endCxn id="58" idx="1"/>
          </p:cNvCxnSpPr>
          <p:nvPr/>
        </p:nvCxnSpPr>
        <p:spPr>
          <a:xfrm>
            <a:off x="4235450" y="2620327"/>
            <a:ext cx="252410" cy="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1AD375B-1C19-7795-C176-61F01B4BB815}"/>
              </a:ext>
            </a:extLst>
          </p:cNvPr>
          <p:cNvSpPr/>
          <p:nvPr/>
        </p:nvSpPr>
        <p:spPr>
          <a:xfrm>
            <a:off x="4487860" y="2392678"/>
            <a:ext cx="82740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Display the login page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D267B6-8F62-5884-D532-42C4EF5F7776}"/>
              </a:ext>
            </a:extLst>
          </p:cNvPr>
          <p:cNvCxnSpPr>
            <a:cxnSpLocks/>
            <a:stCxn id="58" idx="3"/>
            <a:endCxn id="61" idx="1"/>
          </p:cNvCxnSpPr>
          <p:nvPr/>
        </p:nvCxnSpPr>
        <p:spPr>
          <a:xfrm>
            <a:off x="5315267" y="2621278"/>
            <a:ext cx="366495" cy="2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lowchart: Decision 60">
            <a:extLst>
              <a:ext uri="{FF2B5EF4-FFF2-40B4-BE49-F238E27FC236}">
                <a16:creationId xmlns:a16="http://schemas.microsoft.com/office/drawing/2014/main" id="{9D91200C-206A-669A-2E5E-A6CCA1FD14EE}"/>
              </a:ext>
            </a:extLst>
          </p:cNvPr>
          <p:cNvSpPr/>
          <p:nvPr/>
        </p:nvSpPr>
        <p:spPr>
          <a:xfrm>
            <a:off x="5681762" y="2243768"/>
            <a:ext cx="1061886" cy="760097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Login successful?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28A3E74A-D334-80CD-90E6-38248B93F913}"/>
              </a:ext>
            </a:extLst>
          </p:cNvPr>
          <p:cNvCxnSpPr>
            <a:cxnSpLocks/>
            <a:stCxn id="61" idx="0"/>
            <a:endCxn id="58" idx="0"/>
          </p:cNvCxnSpPr>
          <p:nvPr/>
        </p:nvCxnSpPr>
        <p:spPr>
          <a:xfrm rot="16200000" flipH="1" flipV="1">
            <a:off x="5482680" y="1662652"/>
            <a:ext cx="148910" cy="1311141"/>
          </a:xfrm>
          <a:prstGeom prst="bentConnector3">
            <a:avLst>
              <a:gd name="adj1" fmla="val -1535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4B236C7-88C7-11AD-FA8D-7AD3158D0316}"/>
              </a:ext>
            </a:extLst>
          </p:cNvPr>
          <p:cNvSpPr txBox="1"/>
          <p:nvPr/>
        </p:nvSpPr>
        <p:spPr>
          <a:xfrm>
            <a:off x="5382581" y="1990819"/>
            <a:ext cx="535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29D9464-E4D2-7BA2-B7AC-2370374BB214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6743648" y="2623817"/>
            <a:ext cx="501674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C815285D-125F-41DC-E427-5D80B4FD09D7}"/>
              </a:ext>
            </a:extLst>
          </p:cNvPr>
          <p:cNvSpPr/>
          <p:nvPr/>
        </p:nvSpPr>
        <p:spPr>
          <a:xfrm>
            <a:off x="7245322" y="2247578"/>
            <a:ext cx="1312082" cy="76009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 selects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Primary college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Sub college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65D89E-2D56-DCDE-C0E0-B2B51AA15B07}"/>
              </a:ext>
            </a:extLst>
          </p:cNvPr>
          <p:cNvSpPr txBox="1"/>
          <p:nvPr/>
        </p:nvSpPr>
        <p:spPr>
          <a:xfrm>
            <a:off x="6761579" y="2374106"/>
            <a:ext cx="385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42A9571-01B6-1784-563C-56DC89C2B7A5}"/>
              </a:ext>
            </a:extLst>
          </p:cNvPr>
          <p:cNvCxnSpPr>
            <a:cxnSpLocks/>
            <a:stCxn id="70" idx="3"/>
            <a:endCxn id="84" idx="3"/>
          </p:cNvCxnSpPr>
          <p:nvPr/>
        </p:nvCxnSpPr>
        <p:spPr>
          <a:xfrm flipH="1">
            <a:off x="8374793" y="2627627"/>
            <a:ext cx="182611" cy="1712592"/>
          </a:xfrm>
          <a:prstGeom prst="bentConnector3">
            <a:avLst>
              <a:gd name="adj1" fmla="val -1251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lowchart: Decision 83">
            <a:extLst>
              <a:ext uri="{FF2B5EF4-FFF2-40B4-BE49-F238E27FC236}">
                <a16:creationId xmlns:a16="http://schemas.microsoft.com/office/drawing/2014/main" id="{DA1223A1-CD7C-7DA3-DB88-F7396EBDDC57}"/>
              </a:ext>
            </a:extLst>
          </p:cNvPr>
          <p:cNvSpPr/>
          <p:nvPr/>
        </p:nvSpPr>
        <p:spPr>
          <a:xfrm>
            <a:off x="7312907" y="3960170"/>
            <a:ext cx="1061886" cy="760097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First time ?</a:t>
            </a: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C310E2E6-4DBA-FFE9-BF8F-70C84ED8D544}"/>
              </a:ext>
            </a:extLst>
          </p:cNvPr>
          <p:cNvSpPr/>
          <p:nvPr/>
        </p:nvSpPr>
        <p:spPr>
          <a:xfrm>
            <a:off x="7450943" y="5114610"/>
            <a:ext cx="785813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You have already voted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D985FFD-FE18-13EC-64DE-F69E9AD729B7}"/>
              </a:ext>
            </a:extLst>
          </p:cNvPr>
          <p:cNvCxnSpPr>
            <a:cxnSpLocks/>
            <a:stCxn id="84" idx="2"/>
            <a:endCxn id="86" idx="0"/>
          </p:cNvCxnSpPr>
          <p:nvPr/>
        </p:nvCxnSpPr>
        <p:spPr>
          <a:xfrm>
            <a:off x="7843850" y="4720267"/>
            <a:ext cx="0" cy="394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5365E163-3444-9549-4D34-E44572CA3C20}"/>
              </a:ext>
            </a:extLst>
          </p:cNvPr>
          <p:cNvSpPr txBox="1"/>
          <p:nvPr/>
        </p:nvSpPr>
        <p:spPr>
          <a:xfrm>
            <a:off x="7794955" y="4750114"/>
            <a:ext cx="535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91" name="Flowchart: Decision 90">
            <a:extLst>
              <a:ext uri="{FF2B5EF4-FFF2-40B4-BE49-F238E27FC236}">
                <a16:creationId xmlns:a16="http://schemas.microsoft.com/office/drawing/2014/main" id="{D0B367D2-49AA-54DB-4BCB-EFA28C4BAF42}"/>
              </a:ext>
            </a:extLst>
          </p:cNvPr>
          <p:cNvSpPr/>
          <p:nvPr/>
        </p:nvSpPr>
        <p:spPr>
          <a:xfrm>
            <a:off x="5741278" y="3960169"/>
            <a:ext cx="1154770" cy="760098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750" dirty="0"/>
              <a:t>MetaMask &amp;&amp; Enough gas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611B84B-2869-FB27-5A8F-7B35ED6B6181}"/>
              </a:ext>
            </a:extLst>
          </p:cNvPr>
          <p:cNvCxnSpPr>
            <a:cxnSpLocks/>
            <a:stCxn id="84" idx="1"/>
            <a:endCxn id="91" idx="3"/>
          </p:cNvCxnSpPr>
          <p:nvPr/>
        </p:nvCxnSpPr>
        <p:spPr>
          <a:xfrm flipH="1" flipV="1">
            <a:off x="6896048" y="4340218"/>
            <a:ext cx="4168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01E6704E-0BDC-908F-73CC-9E9EB19168D6}"/>
              </a:ext>
            </a:extLst>
          </p:cNvPr>
          <p:cNvSpPr txBox="1"/>
          <p:nvPr/>
        </p:nvSpPr>
        <p:spPr>
          <a:xfrm>
            <a:off x="6933031" y="4123617"/>
            <a:ext cx="385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91D68216-6F7A-40FC-5A77-1FC087E071CD}"/>
              </a:ext>
            </a:extLst>
          </p:cNvPr>
          <p:cNvSpPr/>
          <p:nvPr/>
        </p:nvSpPr>
        <p:spPr>
          <a:xfrm>
            <a:off x="5834063" y="4987084"/>
            <a:ext cx="973085" cy="702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You must install MetaMask Or check the gas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92C97BAD-377E-A649-BB4D-799EED3B0C31}"/>
              </a:ext>
            </a:extLst>
          </p:cNvPr>
          <p:cNvCxnSpPr>
            <a:cxnSpLocks/>
            <a:stCxn id="91" idx="2"/>
            <a:endCxn id="100" idx="0"/>
          </p:cNvCxnSpPr>
          <p:nvPr/>
        </p:nvCxnSpPr>
        <p:spPr>
          <a:xfrm>
            <a:off x="6318663" y="4720267"/>
            <a:ext cx="1943" cy="2668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05E1A755-176F-CBAF-961E-C9386A4C1248}"/>
              </a:ext>
            </a:extLst>
          </p:cNvPr>
          <p:cNvSpPr txBox="1"/>
          <p:nvPr/>
        </p:nvSpPr>
        <p:spPr>
          <a:xfrm>
            <a:off x="6278800" y="4717757"/>
            <a:ext cx="5356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106" name="Connector: Elbow 105">
            <a:extLst>
              <a:ext uri="{FF2B5EF4-FFF2-40B4-BE49-F238E27FC236}">
                <a16:creationId xmlns:a16="http://schemas.microsoft.com/office/drawing/2014/main" id="{C0CFB71C-C57B-4F4C-4A45-78A2F5AF0DAF}"/>
              </a:ext>
            </a:extLst>
          </p:cNvPr>
          <p:cNvCxnSpPr>
            <a:cxnSpLocks/>
            <a:stCxn id="100" idx="3"/>
            <a:endCxn id="91" idx="3"/>
          </p:cNvCxnSpPr>
          <p:nvPr/>
        </p:nvCxnSpPr>
        <p:spPr>
          <a:xfrm flipV="1">
            <a:off x="6807148" y="4340218"/>
            <a:ext cx="88900" cy="998124"/>
          </a:xfrm>
          <a:prstGeom prst="bentConnector3">
            <a:avLst>
              <a:gd name="adj1" fmla="val 3571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61A49B8-7AEB-53E1-FBE7-201AA8B74DB2}"/>
              </a:ext>
            </a:extLst>
          </p:cNvPr>
          <p:cNvSpPr/>
          <p:nvPr/>
        </p:nvSpPr>
        <p:spPr>
          <a:xfrm>
            <a:off x="4619713" y="4106297"/>
            <a:ext cx="82740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You voted successfully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F0432DE7-4ABD-86C6-62E3-82BEA06C2162}"/>
              </a:ext>
            </a:extLst>
          </p:cNvPr>
          <p:cNvSpPr/>
          <p:nvPr/>
        </p:nvSpPr>
        <p:spPr>
          <a:xfrm>
            <a:off x="3633242" y="4106297"/>
            <a:ext cx="827407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You can view the chart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DE318DE-5624-FF2D-D821-B8B8518BB3F1}"/>
              </a:ext>
            </a:extLst>
          </p:cNvPr>
          <p:cNvCxnSpPr>
            <a:cxnSpLocks/>
            <a:stCxn id="91" idx="1"/>
            <a:endCxn id="108" idx="3"/>
          </p:cNvCxnSpPr>
          <p:nvPr/>
        </p:nvCxnSpPr>
        <p:spPr>
          <a:xfrm flipH="1" flipV="1">
            <a:off x="5447120" y="4334897"/>
            <a:ext cx="294158" cy="5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050484E-497E-ADA5-CE0C-B7061BD407F1}"/>
              </a:ext>
            </a:extLst>
          </p:cNvPr>
          <p:cNvCxnSpPr>
            <a:cxnSpLocks/>
            <a:stCxn id="108" idx="1"/>
            <a:endCxn id="109" idx="3"/>
          </p:cNvCxnSpPr>
          <p:nvPr/>
        </p:nvCxnSpPr>
        <p:spPr>
          <a:xfrm flipH="1">
            <a:off x="4460649" y="4334897"/>
            <a:ext cx="15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3D5E2BB2-09DF-391C-858A-A3531678FBC2}"/>
              </a:ext>
            </a:extLst>
          </p:cNvPr>
          <p:cNvSpPr txBox="1"/>
          <p:nvPr/>
        </p:nvSpPr>
        <p:spPr>
          <a:xfrm>
            <a:off x="5442357" y="4111708"/>
            <a:ext cx="3858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AA4809-7A4C-1FF6-2287-DD30C4F0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3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34" grpId="0" animBg="1"/>
      <p:bldP spid="39" grpId="0" animBg="1"/>
      <p:bldP spid="40" grpId="0" animBg="1"/>
      <p:bldP spid="49" grpId="0"/>
      <p:bldP spid="53" grpId="0"/>
      <p:bldP spid="54" grpId="0" animBg="1"/>
      <p:bldP spid="58" grpId="0" animBg="1"/>
      <p:bldP spid="61" grpId="0" animBg="1"/>
      <p:bldP spid="68" grpId="0"/>
      <p:bldP spid="70" grpId="0" animBg="1"/>
      <p:bldP spid="80" grpId="0"/>
      <p:bldP spid="84" grpId="0" animBg="1"/>
      <p:bldP spid="86" grpId="0" animBg="1"/>
      <p:bldP spid="90" grpId="0"/>
      <p:bldP spid="91" grpId="0" animBg="1"/>
      <p:bldP spid="95" grpId="0"/>
      <p:bldP spid="100" grpId="0" animBg="1"/>
      <p:bldP spid="104" grpId="0"/>
      <p:bldP spid="108" grpId="0" animBg="1"/>
      <p:bldP spid="109" grpId="0" animBg="1"/>
      <p:bldP spid="1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09C93-71F0-9E1E-19A2-C9161E49E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804520"/>
            <a:ext cx="6969805" cy="104923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Implementation</a:t>
            </a:r>
            <a:r>
              <a:rPr lang="en-US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2C9DC-11F6-8EEA-56FE-0160C9D3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183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760230" cy="1049235"/>
          </a:xfrm>
        </p:spPr>
        <p:txBody>
          <a:bodyPr/>
          <a:lstStyle/>
          <a:p>
            <a:r>
              <a:rPr lang="en-US" b="1" dirty="0"/>
              <a:t>User Interface (Frontend)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7447" y="2056017"/>
            <a:ext cx="5474892" cy="372719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Clean and responsive UI</a:t>
            </a:r>
            <a:r>
              <a:rPr lang="en-US" sz="1800" dirty="0"/>
              <a:t> designed with accessibility and minimalism in mind.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Login screen</a:t>
            </a:r>
            <a:r>
              <a:rPr lang="en-US" sz="1800" dirty="0"/>
              <a:t> integrates with </a:t>
            </a:r>
            <a:r>
              <a:rPr lang="en-US" sz="1800" b="1" dirty="0"/>
              <a:t>MetaMask</a:t>
            </a:r>
            <a:r>
              <a:rPr lang="en-US" sz="1800" dirty="0"/>
              <a:t> for secure identity verification and Ethereum account binding.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The interface </a:t>
            </a:r>
            <a:r>
              <a:rPr lang="en-US" sz="1600" dirty="0"/>
              <a:t>is designed to be fully compatible across various devices, including laptops, tablets, and smartphones.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system provides immediate </a:t>
            </a:r>
            <a:r>
              <a:rPr lang="en-US" sz="1800" b="1" dirty="0"/>
              <a:t>visual confirmation </a:t>
            </a:r>
            <a:r>
              <a:rPr lang="en-US" sz="1800" dirty="0"/>
              <a:t>after successful vote submission, enhancing user trust and improving the overall voting experience.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9FA288-818F-EA77-1A13-48F3FF655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152" y="1918668"/>
            <a:ext cx="1857974" cy="38512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8DDF4B-DAA4-D343-7DC6-1577DF2E6C1D}"/>
              </a:ext>
            </a:extLst>
          </p:cNvPr>
          <p:cNvSpPr txBox="1"/>
          <p:nvPr/>
        </p:nvSpPr>
        <p:spPr>
          <a:xfrm>
            <a:off x="6918383" y="5750209"/>
            <a:ext cx="2003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Figure 3: Mobile User Interface Displaying Voting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DE80F3-1A0F-0FB2-3D36-45294F95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Backend API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562" y="1995634"/>
            <a:ext cx="4130297" cy="34506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Handles </a:t>
            </a:r>
            <a:r>
              <a:rPr lang="en-US" sz="1800" b="1" dirty="0"/>
              <a:t>user login</a:t>
            </a:r>
            <a:r>
              <a:rPr lang="en-US" sz="1800" dirty="0"/>
              <a:t>, </a:t>
            </a:r>
            <a:endParaRPr lang="ar-JO" sz="18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Utilizes </a:t>
            </a:r>
            <a:r>
              <a:rPr lang="en-US" sz="1800" b="1" dirty="0"/>
              <a:t>JWT (JSON Web Token)</a:t>
            </a:r>
            <a:r>
              <a:rPr lang="en-US" sz="1800" dirty="0"/>
              <a:t> for secure, token-based authentication.</a:t>
            </a:r>
            <a:endParaRPr lang="ar-JO" sz="1800" dirty="0"/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Does not handle voting</a:t>
            </a:r>
            <a:r>
              <a:rPr lang="en-US" sz="1800" dirty="0"/>
              <a:t> — votes are sent </a:t>
            </a:r>
            <a:r>
              <a:rPr lang="en-US" sz="1800" b="1" dirty="0"/>
              <a:t>directly from frontend to blockchain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Provides </a:t>
            </a:r>
            <a:r>
              <a:rPr lang="en-US" sz="1800" b="1" dirty="0"/>
              <a:t>admin-only routes</a:t>
            </a:r>
            <a:r>
              <a:rPr lang="en-US" sz="1800" dirty="0"/>
              <a:t> for managing university and college blocs (add, edit).</a:t>
            </a:r>
            <a:endParaRPr lang="ar-JO" sz="1800" dirty="0"/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CE1D371B-8B4F-35AD-3141-8EC1F1FFF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8980" y="1995634"/>
            <a:ext cx="3450613" cy="34506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672A5-99D7-5858-3A4B-4CF08C9D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20"/>
            <a:ext cx="7202456" cy="597196"/>
          </a:xfrm>
        </p:spPr>
        <p:txBody>
          <a:bodyPr>
            <a:normAutofit/>
          </a:bodyPr>
          <a:lstStyle/>
          <a:p>
            <a:r>
              <a:rPr lang="en-US" b="1" dirty="0"/>
              <a:t>Smart Contract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36" y="1979571"/>
            <a:ext cx="3890607" cy="391965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Developed in </a:t>
            </a:r>
            <a:r>
              <a:rPr lang="en-US" sz="1800" b="1" dirty="0"/>
              <a:t>Solidity</a:t>
            </a:r>
            <a:r>
              <a:rPr lang="en-US" sz="1800" dirty="0"/>
              <a:t>, deployed on Ethereum-compatible network.</a:t>
            </a:r>
          </a:p>
          <a:p>
            <a:pPr>
              <a:lnSpc>
                <a:spcPct val="110000"/>
              </a:lnSpc>
            </a:pPr>
            <a:r>
              <a:rPr lang="en-US" sz="1800" dirty="0"/>
              <a:t>Implements two main functions: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vote() for university bloc voting</a:t>
            </a:r>
          </a:p>
          <a:p>
            <a:pPr lvl="1">
              <a:lnSpc>
                <a:spcPct val="110000"/>
              </a:lnSpc>
            </a:pPr>
            <a:r>
              <a:rPr lang="en-US" sz="1800" dirty="0"/>
              <a:t>voteCollegeBloc() for college-specific bloc voting</a:t>
            </a:r>
          </a:p>
          <a:p>
            <a:pPr>
              <a:lnSpc>
                <a:spcPct val="110000"/>
              </a:lnSpc>
            </a:pPr>
            <a:r>
              <a:rPr lang="en-US" sz="1800" b="1" dirty="0"/>
              <a:t>Preventing </a:t>
            </a:r>
            <a:r>
              <a:rPr lang="en-US" sz="1800" dirty="0"/>
              <a:t>the same student to vote from different wallet by passing the EmailHash as a parameter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06EBEF-9BCC-EF38-AFDA-3405DA24AABB}"/>
              </a:ext>
            </a:extLst>
          </p:cNvPr>
          <p:cNvSpPr txBox="1"/>
          <p:nvPr/>
        </p:nvSpPr>
        <p:spPr>
          <a:xfrm>
            <a:off x="5135204" y="4287182"/>
            <a:ext cx="37261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en-US" sz="1000" dirty="0"/>
              <a:t>Figure 4: </a:t>
            </a:r>
            <a:r>
              <a:rPr lang="en-US" sz="1000" dirty="0">
                <a:ea typeface="Calibri" panose="020F0502020204030204" pitchFamily="34" charset="0"/>
                <a:cs typeface="Arial" panose="020B0604020202020204" pitchFamily="34" charset="0"/>
              </a:rPr>
              <a:t>Voting code using solidity</a:t>
            </a:r>
            <a:endParaRPr lang="en-US" sz="1000" i="1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00EF08A6-AF29-B0A3-6CA3-52B14F1C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290" y="2570818"/>
            <a:ext cx="4038009" cy="17163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F65AE-D7CD-3060-B0F6-E62640C25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C0B1-4DF2-8F59-D70B-68F0481A1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Voting Result Charts (User View)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9BF65A75-1FD0-EEA3-F356-953F39C1A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427" y="2041612"/>
            <a:ext cx="3801369" cy="3450613"/>
          </a:xfrm>
        </p:spPr>
        <p:txBody>
          <a:bodyPr>
            <a:noAutofit/>
          </a:bodyPr>
          <a:lstStyle/>
          <a:p>
            <a:r>
              <a:rPr lang="en-US" sz="1800" dirty="0"/>
              <a:t>Displays real-time voting results for university and college blocs.</a:t>
            </a:r>
          </a:p>
          <a:p>
            <a:r>
              <a:rPr lang="en-US" sz="1800" dirty="0"/>
              <a:t>Users can view updated vote counts immediately after submission.</a:t>
            </a:r>
          </a:p>
          <a:p>
            <a:r>
              <a:rPr lang="en-US" sz="1800" dirty="0"/>
              <a:t>Charts are generated using Chart.js with smooth transitions and winner highlighting.</a:t>
            </a:r>
          </a:p>
          <a:p>
            <a:r>
              <a:rPr lang="en-US" sz="1800" dirty="0"/>
              <a:t>The interface allows toggling between different college blocs via dropdown.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6375DC-9975-9823-435C-DEFD6F2F0CEC}"/>
              </a:ext>
            </a:extLst>
          </p:cNvPr>
          <p:cNvSpPr txBox="1"/>
          <p:nvPr/>
        </p:nvSpPr>
        <p:spPr>
          <a:xfrm>
            <a:off x="6058600" y="5832728"/>
            <a:ext cx="17788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 5: User Voting Interface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9F185-D8F7-3B1C-2611-F90B02B4E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432" y="1883841"/>
            <a:ext cx="4171724" cy="394888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C973F7-DB8A-F58E-8AA7-22EE35F4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440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/>
              <a:t>Admin Panel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4320078" cy="34506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Enables admins to </a:t>
            </a:r>
            <a:r>
              <a:rPr lang="en-US" sz="1800" b="1" dirty="0"/>
              <a:t>add and edit</a:t>
            </a:r>
            <a:r>
              <a:rPr lang="en-US" sz="1800" dirty="0"/>
              <a:t> university and college blocs.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Supports </a:t>
            </a:r>
            <a:r>
              <a:rPr lang="en-US" sz="1800" b="1" dirty="0"/>
              <a:t>college-based filtering</a:t>
            </a:r>
            <a:r>
              <a:rPr lang="en-US" sz="1800" dirty="0"/>
              <a:t> to view bloc-specific vote results.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Displays </a:t>
            </a:r>
            <a:r>
              <a:rPr lang="en-US" sz="1800" b="1" dirty="0"/>
              <a:t>responsive charts</a:t>
            </a:r>
            <a:r>
              <a:rPr lang="en-US" sz="1800" dirty="0"/>
              <a:t> that update automatically after voting events.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Ensures </a:t>
            </a:r>
            <a:r>
              <a:rPr lang="en-US" sz="1800" b="1" dirty="0"/>
              <a:t>real-time syncing</a:t>
            </a:r>
            <a:r>
              <a:rPr lang="en-US" sz="1800" dirty="0"/>
              <a:t> between the database and blockchain smart contract.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Role-based access control</a:t>
            </a:r>
            <a:r>
              <a:rPr lang="en-US" sz="1800" dirty="0"/>
              <a:t> restricts visibility of this panel to admin users only.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04B76-5D3F-9D96-73BE-8D49AAF72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889" y="2139416"/>
            <a:ext cx="3703177" cy="3203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73E401-9F86-188B-8E5A-39F3641A38D3}"/>
              </a:ext>
            </a:extLst>
          </p:cNvPr>
          <p:cNvSpPr txBox="1"/>
          <p:nvPr/>
        </p:nvSpPr>
        <p:spPr>
          <a:xfrm>
            <a:off x="6163727" y="5342663"/>
            <a:ext cx="20074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Figure 6: Admin Result Dashboard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09DED-CE9D-D4D5-87D4-9F97BCE1A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Impressive </a:t>
            </a:r>
            <a:r>
              <a:rPr lang="en-US" b="1" dirty="0"/>
              <a:t>features</a:t>
            </a:r>
            <a:r>
              <a:rPr lang="fr-FR" b="1" dirty="0"/>
              <a:t> </a:t>
            </a:r>
            <a:endParaRPr lang="fr-FR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67C5B-0186-6DAC-CE55-7CE48A081B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778853"/>
              </p:ext>
            </p:extLst>
          </p:nvPr>
        </p:nvGraphicFramePr>
        <p:xfrm>
          <a:off x="1443491" y="1995185"/>
          <a:ext cx="6571343" cy="345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66F98B-90E8-6148-DC69-E5BF2E33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Security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3" y="2020871"/>
            <a:ext cx="4164803" cy="34506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Users passwords are stored as a hash in the database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Voter emails are hashed</a:t>
            </a:r>
            <a:r>
              <a:rPr lang="en-US" sz="1800" dirty="0"/>
              <a:t> before interacting with the blockchain to ensure privacy.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Votes are hashed</a:t>
            </a:r>
            <a:r>
              <a:rPr lang="en-US" sz="1800" dirty="0"/>
              <a:t> before submission to enhance data protection.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Smart contract logic</a:t>
            </a:r>
            <a:r>
              <a:rPr lang="en-US" sz="1800" dirty="0"/>
              <a:t> enforces one-vote-per-user by tracking voting status.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767C03CC-2C79-1D88-2FC1-4C0A1F043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3486" y="1853754"/>
            <a:ext cx="3450613" cy="345061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3B8EC-6947-E150-A42A-32179726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36B8-3E6F-76AC-5F57-EFBF73944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137557"/>
            <a:ext cx="6571343" cy="71619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Live demonstration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93955-4070-7CBB-1796-4B5F799E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01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Live 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5194" y="2015733"/>
            <a:ext cx="6571343" cy="34506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1:</a:t>
            </a:r>
            <a:r>
              <a:rPr lang="en-US" dirty="0"/>
              <a:t> Log in using MetaMask and registered email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2:</a:t>
            </a:r>
            <a:r>
              <a:rPr lang="en-US" dirty="0"/>
              <a:t> Cast votes for both university and college blocs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3:</a:t>
            </a:r>
            <a:r>
              <a:rPr lang="en-US" dirty="0"/>
              <a:t> View real-time vote distribution via dynamic Chart.js graphs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Step 4:</a:t>
            </a:r>
            <a:r>
              <a:rPr lang="en-US" dirty="0"/>
              <a:t> Log in as admin to manage blocs and analyze election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723D7-D3F8-D7F8-EEC4-D5F62016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r>
              <a:rPr lang="en-US" b="1" dirty="0"/>
              <a:t>Challenges Faced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0123" y="2322842"/>
            <a:ext cx="5199973" cy="2617911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Requires a Web3 wallet (e.g., MetaMask), unlike traditional systems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MetaMask transaction delays and user rejections</a:t>
            </a:r>
            <a:r>
              <a:rPr lang="en-US" sz="1800" dirty="0"/>
              <a:t> during signing or gas confirmation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800" b="1" dirty="0"/>
              <a:t>Scalability:</a:t>
            </a:r>
            <a:r>
              <a:rPr lang="en-US" sz="1800" dirty="0"/>
              <a:t> At present, the system operates in a local environment, which limits its ability to handle large-scale or distributed deployments.</a:t>
            </a:r>
          </a:p>
        </p:txBody>
      </p:sp>
      <p:pic>
        <p:nvPicPr>
          <p:cNvPr id="7" name="Graphic 6" descr="Contract">
            <a:extLst>
              <a:ext uri="{FF2B5EF4-FFF2-40B4-BE49-F238E27FC236}">
                <a16:creationId xmlns:a16="http://schemas.microsoft.com/office/drawing/2014/main" id="{D9854FF3-36DE-89A8-AE93-060D1D443D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8929" y="2191359"/>
            <a:ext cx="2688641" cy="26886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912AB-93F6-1B97-DA15-4AC3DCB8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702" y="2015733"/>
            <a:ext cx="6571343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Generalize</a:t>
            </a:r>
            <a:r>
              <a:rPr lang="en-US" sz="1800" dirty="0"/>
              <a:t> the system to be useable for other organizations</a:t>
            </a:r>
          </a:p>
          <a:p>
            <a:r>
              <a:rPr lang="en-US" sz="1800" dirty="0"/>
              <a:t>Introduce </a:t>
            </a:r>
            <a:r>
              <a:rPr lang="en-US" sz="1800" b="1" dirty="0"/>
              <a:t>email-based verification codes</a:t>
            </a:r>
            <a:r>
              <a:rPr lang="en-US" sz="1800" dirty="0"/>
              <a:t> to prevent fraudulent participation</a:t>
            </a:r>
          </a:p>
          <a:p>
            <a:r>
              <a:rPr lang="en-US" sz="1800" b="1" dirty="0"/>
              <a:t>Upgrade deployment</a:t>
            </a:r>
            <a:r>
              <a:rPr lang="en-US" sz="1800" dirty="0"/>
              <a:t> to a public Ethereum or </a:t>
            </a:r>
            <a:r>
              <a:rPr lang="en-US" sz="1800" b="1" dirty="0"/>
              <a:t>Polygon network</a:t>
            </a:r>
            <a:r>
              <a:rPr lang="en-US" sz="1800" dirty="0"/>
              <a:t> for scalability and decentralization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1ED0F-A21D-6B6D-15E3-E00455A8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Conclusions &amp; Q/A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651" y="2015733"/>
            <a:ext cx="6571343" cy="34506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Blockchain can </a:t>
            </a:r>
            <a:r>
              <a:rPr lang="en-US" sz="1800" b="1" dirty="0"/>
              <a:t>solve key issues</a:t>
            </a:r>
            <a:r>
              <a:rPr lang="en-US" sz="1800" dirty="0"/>
              <a:t> in traditional voting systems — such as fraud, lack of transparency, and trust.</a:t>
            </a: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Our system uses </a:t>
            </a:r>
            <a:r>
              <a:rPr lang="en-US" sz="1800" b="1" dirty="0"/>
              <a:t>smart contract logic</a:t>
            </a:r>
            <a:r>
              <a:rPr lang="en-US" sz="1800" dirty="0"/>
              <a:t> to ensure one vote per person, with immutable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interface is </a:t>
            </a:r>
            <a:r>
              <a:rPr lang="en-US" sz="1800" b="1" dirty="0"/>
              <a:t>user-friendly</a:t>
            </a:r>
            <a:r>
              <a:rPr lang="en-US" sz="1800" dirty="0"/>
              <a:t>, supports </a:t>
            </a:r>
            <a:r>
              <a:rPr lang="en-US" sz="1800" b="1" dirty="0"/>
              <a:t>real-time vote tracking</a:t>
            </a:r>
            <a:r>
              <a:rPr lang="en-US" sz="1800" dirty="0"/>
              <a:t>, and works across all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We’ve created a </a:t>
            </a:r>
            <a:r>
              <a:rPr lang="en-US" sz="1800" b="1" dirty="0"/>
              <a:t>scalable, tamper-proof voting platform</a:t>
            </a:r>
            <a:r>
              <a:rPr lang="en-US" sz="1800" dirty="0"/>
              <a:t> ready for use in educational and organizational settings.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25F8C-7276-8D56-1222-7EDE8C38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D095B41-7312-4603-9F0F-93387C353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able with placemats">
            <a:extLst>
              <a:ext uri="{FF2B5EF4-FFF2-40B4-BE49-F238E27FC236}">
                <a16:creationId xmlns:a16="http://schemas.microsoft.com/office/drawing/2014/main" id="{0B682CB7-95F7-FFB7-4949-1A5F2501C8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l="4446" r="6555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042C936-444C-4F0D-9737-291EAFE1E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A4EB5-574C-89A4-5A3A-C822C419D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13334" y="802298"/>
            <a:ext cx="6477805" cy="2541431"/>
          </a:xfrm>
        </p:spPr>
        <p:txBody>
          <a:bodyPr>
            <a:normAutofit/>
          </a:bodyPr>
          <a:lstStyle/>
          <a:p>
            <a:r>
              <a:rPr lang="en-US"/>
              <a:t>Thank You for Your Attention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912F1-30E8-D782-EB5F-960119C42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3335" y="3531204"/>
            <a:ext cx="6477804" cy="977621"/>
          </a:xfrm>
        </p:spPr>
        <p:txBody>
          <a:bodyPr>
            <a:normAutofit/>
          </a:bodyPr>
          <a:lstStyle/>
          <a:p>
            <a:r>
              <a:rPr lang="en-US"/>
              <a:t>We appreciate your time and interest in our project.</a:t>
            </a:r>
            <a:br>
              <a:rPr lang="en-US"/>
            </a:br>
            <a:r>
              <a:rPr lang="en-US"/>
              <a:t>Questions and feedback are welcome.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61C4D9F-F4AF-4ED2-9310-56EB2E19C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3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419FDB25-3050-4009-9806-3000DDD1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063EF0F-7BC0-4CFB-AB98-20A8DD91D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03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1555</TotalTime>
  <Words>3295</Words>
  <Application>Microsoft Office PowerPoint</Application>
  <PresentationFormat>On-screen Show (4:3)</PresentationFormat>
  <Paragraphs>272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Calibri</vt:lpstr>
      <vt:lpstr>Gill Sans MT</vt:lpstr>
      <vt:lpstr>Traditional Arabic</vt:lpstr>
      <vt:lpstr>Gallery</vt:lpstr>
      <vt:lpstr>PowerPoint Presentation</vt:lpstr>
      <vt:lpstr>Executive Summary</vt:lpstr>
      <vt:lpstr>Motivation &amp; Problem Statement</vt:lpstr>
      <vt:lpstr>Blockchain Basics</vt:lpstr>
      <vt:lpstr>Advantages of blockchain </vt:lpstr>
      <vt:lpstr> design </vt:lpstr>
      <vt:lpstr>system interaction diagram</vt:lpstr>
      <vt:lpstr>System Architecture</vt:lpstr>
      <vt:lpstr>System Architecture</vt:lpstr>
      <vt:lpstr>Implementation </vt:lpstr>
      <vt:lpstr>User Interface (Frontend)</vt:lpstr>
      <vt:lpstr>Backend API Functionality</vt:lpstr>
      <vt:lpstr>Smart Contract Design</vt:lpstr>
      <vt:lpstr>Voting Result Charts (User View)</vt:lpstr>
      <vt:lpstr>Admin Panel Features</vt:lpstr>
      <vt:lpstr>Impressive features </vt:lpstr>
      <vt:lpstr>Security &amp; Integrity</vt:lpstr>
      <vt:lpstr>Live demonstration </vt:lpstr>
      <vt:lpstr>Live Demonstration</vt:lpstr>
      <vt:lpstr>Challenges Faced</vt:lpstr>
      <vt:lpstr>Future Enhancements</vt:lpstr>
      <vt:lpstr>Conclusions &amp; Q/A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omar durrah</dc:creator>
  <cp:keywords/>
  <dc:description>generated using python-pptx</dc:description>
  <cp:lastModifiedBy>Mohammad sohail Saleem Saleem</cp:lastModifiedBy>
  <cp:revision>27</cp:revision>
  <dcterms:created xsi:type="dcterms:W3CDTF">2013-01-27T09:14:16Z</dcterms:created>
  <dcterms:modified xsi:type="dcterms:W3CDTF">2025-06-02T19:30:13Z</dcterms:modified>
  <cp:category/>
</cp:coreProperties>
</file>